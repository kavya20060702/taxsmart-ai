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7" r:id="rId1"/>
  </p:sldMasterIdLst>
  <p:notesMasterIdLst>
    <p:notesMasterId r:id="rId32"/>
  </p:notesMasterIdLst>
  <p:sldIdLst>
    <p:sldId id="256" r:id="rId2"/>
    <p:sldId id="257" r:id="rId3"/>
    <p:sldId id="258" r:id="rId4"/>
    <p:sldId id="259" r:id="rId5"/>
    <p:sldId id="260" r:id="rId6"/>
    <p:sldId id="277" r:id="rId7"/>
    <p:sldId id="278" r:id="rId8"/>
    <p:sldId id="279" r:id="rId9"/>
    <p:sldId id="281" r:id="rId10"/>
    <p:sldId id="261" r:id="rId11"/>
    <p:sldId id="262" r:id="rId12"/>
    <p:sldId id="276" r:id="rId13"/>
    <p:sldId id="263" r:id="rId14"/>
    <p:sldId id="264" r:id="rId15"/>
    <p:sldId id="265" r:id="rId16"/>
    <p:sldId id="266" r:id="rId17"/>
    <p:sldId id="273" r:id="rId18"/>
    <p:sldId id="280" r:id="rId19"/>
    <p:sldId id="274" r:id="rId20"/>
    <p:sldId id="287" r:id="rId21"/>
    <p:sldId id="275" r:id="rId22"/>
    <p:sldId id="268" r:id="rId23"/>
    <p:sldId id="269" r:id="rId24"/>
    <p:sldId id="270" r:id="rId25"/>
    <p:sldId id="283" r:id="rId26"/>
    <p:sldId id="282" r:id="rId27"/>
    <p:sldId id="284" r:id="rId28"/>
    <p:sldId id="285" r:id="rId29"/>
    <p:sldId id="286" r:id="rId30"/>
    <p:sldId id="27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B9F4E-432F-455A-A56D-919258796237}" v="5" dt="2026-07-09T09:52:52.983"/>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F775231-614C-BE02-DE88-EFA8C8CDC910}"/>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55FF575A-7467-BF63-C1D6-410A8D98FD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0CDAE69E-1D43-7056-2759-CE33986B76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5160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3BE1E7CE-76A1-3558-A0BE-53D80E3B7725}"/>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73FC99F4-D0AE-CF47-BCBC-E6C67DAD8B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6B768463-BB74-7B60-051F-8E2C2F391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606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6A258D5-EA79-A282-E6F7-ABB78E4B80EB}"/>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E27380E2-A3F4-2E47-B9B8-C26417CCBF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C3834ED8-74B8-5BCD-BAA4-78FBBF1AA6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2651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9251B05-3ADE-34A8-AD02-AE0522352110}"/>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41744E17-2B01-0E6A-D474-48CA8E0405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3D145139-5EEB-249E-8E39-B65D247435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6228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AC822E29-82C7-BFCB-8BF1-4354C5EC1A0D}"/>
            </a:ext>
          </a:extLst>
        </p:cNvPr>
        <p:cNvGrpSpPr/>
        <p:nvPr/>
      </p:nvGrpSpPr>
      <p:grpSpPr>
        <a:xfrm>
          <a:off x="0" y="0"/>
          <a:ext cx="0" cy="0"/>
          <a:chOff x="0" y="0"/>
          <a:chExt cx="0" cy="0"/>
        </a:xfrm>
      </p:grpSpPr>
      <p:sp>
        <p:nvSpPr>
          <p:cNvPr id="122" name="Google Shape;122;p38:notes">
            <a:extLst>
              <a:ext uri="{FF2B5EF4-FFF2-40B4-BE49-F238E27FC236}">
                <a16:creationId xmlns:a16="http://schemas.microsoft.com/office/drawing/2014/main" id="{14710CF1-3505-7297-13BE-682CBBB4D2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a:extLst>
              <a:ext uri="{FF2B5EF4-FFF2-40B4-BE49-F238E27FC236}">
                <a16:creationId xmlns:a16="http://schemas.microsoft.com/office/drawing/2014/main" id="{4F41D597-B74C-9BA6-0A88-21D642E3D6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12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67F130D-91D7-D3BC-0502-B389C836E7F6}"/>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5A878B3-1389-03A4-6646-69CEB29990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DE343D58-A484-C912-17C2-606E68F49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1776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62C13FE3-F7CD-4F0D-ECC8-213988140BD7}"/>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7C3D85B-038F-5F96-23B6-F6734391EE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2CF93725-48D1-9E86-50B3-9A697575C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806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62C13FE3-F7CD-4F0D-ECC8-213988140BD7}"/>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7C3D85B-038F-5F96-23B6-F6734391EE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2CF93725-48D1-9E86-50B3-9A697575C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121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417D5BE-9BD5-A83D-9C01-B5C036BA4A70}"/>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937F3272-9F55-717C-935E-6CAA60AB32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B54791E0-0C4D-FEDE-49FD-005AA4B57F3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72577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A899E8D-3E7B-6DF6-5D9B-F5366C47E99B}"/>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3A0D7FAD-67C7-09B4-0C6A-4211014F17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7EF523E1-61AB-56D0-F888-A6681987E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9078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EBAF2376-F701-E479-A6A9-6B166CF2EF71}"/>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43C31E06-A0B1-366D-B5CF-D44CCC43FD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075F2B5B-6328-4969-BD5D-9B143DF503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0933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BB85AEF0-1095-C9C7-0252-D6E819717139}"/>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F3B98D32-F5E5-ECFE-2A1B-F979EBEE68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C0B7B591-A571-8F70-3231-42DF4BC2C9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112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125DDC98-654B-2474-1932-758B4B71BCFA}"/>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669875DF-8C9A-7FB0-A4E0-2334E7620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0D3D39ED-F1BA-11BF-2B37-2B519B1800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908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043881A6-3EB7-9475-6E94-CE98AEA2A46F}"/>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9511CA72-6A0B-8F76-DC6F-4C4090F2BB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627ADCD5-63C7-E13E-20E7-AC163ED8AC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99142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2539EE55-02C7-38DE-6434-F187CD7DE2F8}"/>
            </a:ext>
          </a:extLst>
        </p:cNvPr>
        <p:cNvGrpSpPr/>
        <p:nvPr/>
      </p:nvGrpSpPr>
      <p:grpSpPr>
        <a:xfrm>
          <a:off x="0" y="0"/>
          <a:ext cx="0" cy="0"/>
          <a:chOff x="0" y="0"/>
          <a:chExt cx="0" cy="0"/>
        </a:xfrm>
      </p:grpSpPr>
      <p:sp>
        <p:nvSpPr>
          <p:cNvPr id="178" name="Google Shape;178;p43:notes">
            <a:extLst>
              <a:ext uri="{FF2B5EF4-FFF2-40B4-BE49-F238E27FC236}">
                <a16:creationId xmlns:a16="http://schemas.microsoft.com/office/drawing/2014/main" id="{C749505A-C44A-1477-199A-46F919A18D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a:extLst>
              <a:ext uri="{FF2B5EF4-FFF2-40B4-BE49-F238E27FC236}">
                <a16:creationId xmlns:a16="http://schemas.microsoft.com/office/drawing/2014/main" id="{3B8DBB3B-440B-22C0-5758-ED308D9E02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0504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322259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591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79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50830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95001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0310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972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140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66948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19062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1533431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2687677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612668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340473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417175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60800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0657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6272547"/>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drive/folders/1QMsRfcVp-iTPfoIQtXuxTb5shqu7Ao06?usp=sharin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drive.google.com/file/d/1JDCiTXEtTSa-cRoQ9hyDUSrvHWSWH33e/view?usp=sharing" TargetMode="External"/><Relationship Id="rId5" Type="http://schemas.openxmlformats.org/officeDocument/2006/relationships/hyperlink" Target="https://tax-smart-ai.vercel.app/" TargetMode="External"/><Relationship Id="rId4" Type="http://schemas.openxmlformats.org/officeDocument/2006/relationships/hyperlink" Target="https://github.com/Kavya20060702/TaxSmart-AI.gi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1559282" y="894737"/>
            <a:ext cx="8534401" cy="338229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568682" y="3864334"/>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4241014437"/>
              </p:ext>
            </p:extLst>
          </p:nvPr>
        </p:nvGraphicFramePr>
        <p:xfrm>
          <a:off x="1299257" y="2600315"/>
          <a:ext cx="9395000" cy="2541956"/>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726893">
                  <a:extLst>
                    <a:ext uri="{9D8B030D-6E8A-4147-A177-3AD203B41FA5}">
                      <a16:colId xmlns:a16="http://schemas.microsoft.com/office/drawing/2014/main" val="20002"/>
                    </a:ext>
                  </a:extLst>
                </a:gridCol>
                <a:gridCol w="2159857">
                  <a:extLst>
                    <a:ext uri="{9D8B030D-6E8A-4147-A177-3AD203B41FA5}">
                      <a16:colId xmlns:a16="http://schemas.microsoft.com/office/drawing/2014/main" val="20003"/>
                    </a:ext>
                  </a:extLst>
                </a:gridCol>
              </a:tblGrid>
              <a:tr h="1141556">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Student Name</a:t>
                      </a:r>
                      <a:endParaRPr sz="1800" b="1"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Recent Passport Photo</a:t>
                      </a:r>
                      <a:endParaRPr sz="1800" b="1"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Email ID </a:t>
                      </a:r>
                      <a:endParaRPr sz="1800" b="1"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a:solidFill>
                            <a:srgbClr val="000000"/>
                          </a:solidFill>
                          <a:latin typeface="Arial"/>
                          <a:ea typeface="Arial"/>
                          <a:cs typeface="Arial"/>
                          <a:sym typeface="Arial"/>
                        </a:rPr>
                        <a:t>Mobile number</a:t>
                      </a:r>
                      <a:endParaRPr sz="1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a:solidFill>
                            <a:srgbClr val="000000"/>
                          </a:solidFill>
                          <a:latin typeface="Arial"/>
                          <a:ea typeface="Arial"/>
                          <a:cs typeface="Arial"/>
                          <a:sym typeface="Arial"/>
                        </a:rPr>
                        <a:t>[WhatsApp] </a:t>
                      </a:r>
                      <a:endParaRPr sz="1800" b="1"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40040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P . KAVYA SAI</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2420030322cse@gmail.com</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9911436234</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chemeClr val="bg1"/>
                </a:solidFill>
                <a:latin typeface="Arial" panose="020B0604020202020204" pitchFamily="34" charset="0"/>
                <a:ea typeface="Arial"/>
                <a:cs typeface="Arial" panose="020B0604020202020204" pitchFamily="34" charset="0"/>
                <a:sym typeface="Arial"/>
              </a:rPr>
              <a:t>Domain of  Project – </a:t>
            </a:r>
            <a:r>
              <a:rPr lang="en-IN" sz="2800" b="1" dirty="0">
                <a:solidFill>
                  <a:schemeClr val="bg1"/>
                </a:solidFill>
                <a:latin typeface="Arial" panose="020B0604020202020204" pitchFamily="34" charset="0"/>
                <a:cs typeface="Arial" panose="020B0604020202020204" pitchFamily="34" charset="0"/>
              </a:rPr>
              <a:t>Financial Technology</a:t>
            </a:r>
            <a:endParaRPr sz="2800" b="1" i="0" u="none" strike="noStrike" cap="none" dirty="0">
              <a:solidFill>
                <a:schemeClr val="bg1"/>
              </a:solidFill>
              <a:highlight>
                <a:srgbClr val="FFFF00"/>
              </a:highlight>
              <a:latin typeface="Arial" panose="020B0604020202020204" pitchFamily="34" charset="0"/>
              <a:ea typeface="Arial"/>
              <a:cs typeface="Arial" panose="020B0604020202020204" pitchFamily="34" charset="0"/>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chemeClr val="bg1"/>
                </a:solidFill>
                <a:latin typeface="Arial" panose="020B0604020202020204" pitchFamily="34" charset="0"/>
                <a:ea typeface="Arial"/>
                <a:cs typeface="Arial" panose="020B0604020202020204" pitchFamily="34" charset="0"/>
                <a:sym typeface="Arial"/>
              </a:rPr>
              <a:t>Project Title – </a:t>
            </a:r>
            <a:r>
              <a:rPr lang="en-IN" sz="2800" b="1" dirty="0">
                <a:solidFill>
                  <a:schemeClr val="bg1"/>
                </a:solidFill>
                <a:latin typeface="Arial" panose="020B0604020202020204" pitchFamily="34" charset="0"/>
                <a:cs typeface="Arial" panose="020B0604020202020204" pitchFamily="34" charset="0"/>
              </a:rPr>
              <a:t>AI Agent for Digital Financial Literacy </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sp>
        <p:nvSpPr>
          <p:cNvPr id="3" name="Google Shape;88;p2">
            <a:extLst>
              <a:ext uri="{FF2B5EF4-FFF2-40B4-BE49-F238E27FC236}">
                <a16:creationId xmlns:a16="http://schemas.microsoft.com/office/drawing/2014/main" id="{B9706CDA-D26F-96A6-B998-E4DA83CFC24C}"/>
              </a:ext>
            </a:extLst>
          </p:cNvPr>
          <p:cNvSpPr txBox="1"/>
          <p:nvPr/>
        </p:nvSpPr>
        <p:spPr>
          <a:xfrm>
            <a:off x="856623" y="5591891"/>
            <a:ext cx="10280254" cy="369291"/>
          </a:xfrm>
          <a:prstGeom prst="rect">
            <a:avLst/>
          </a:prstGeom>
          <a:noFill/>
          <a:ln>
            <a:noFill/>
          </a:ln>
        </p:spPr>
        <p:txBody>
          <a:bodyPr spcFirstLastPara="1" wrap="square" lIns="91425" tIns="45700" rIns="91425" bIns="45700" anchor="t" anchorCtr="0">
            <a:spAutoFit/>
          </a:bodyPr>
          <a:lstStyle/>
          <a:p>
            <a:pPr lvl="0"/>
            <a:r>
              <a:rPr lang="en-IN" i="0" u="none" strike="noStrike" cap="none" dirty="0">
                <a:solidFill>
                  <a:schemeClr val="bg1"/>
                </a:solidFill>
                <a:latin typeface="Arial" panose="020B0604020202020204" pitchFamily="34" charset="0"/>
                <a:ea typeface="Arial"/>
                <a:cs typeface="Arial" panose="020B0604020202020204" pitchFamily="34" charset="0"/>
                <a:sym typeface="Arial"/>
              </a:rPr>
              <a:t>AICTE ID- </a:t>
            </a:r>
            <a:r>
              <a:rPr lang="en-IN" dirty="0">
                <a:solidFill>
                  <a:schemeClr val="bg1"/>
                </a:solidFill>
                <a:latin typeface="Arial" panose="020B0604020202020204" pitchFamily="34" charset="0"/>
                <a:cs typeface="Arial" panose="020B0604020202020204" pitchFamily="34" charset="0"/>
              </a:rPr>
              <a:t>STU69fb650b2f6091778083083</a:t>
            </a:r>
            <a:endParaRPr i="0" u="none" strike="noStrike" cap="none" dirty="0">
              <a:solidFill>
                <a:schemeClr val="bg1"/>
              </a:solidFill>
              <a:highlight>
                <a:srgbClr val="FFFF00"/>
              </a:highlight>
              <a:latin typeface="Arial" panose="020B0604020202020204" pitchFamily="34" charset="0"/>
              <a:ea typeface="Arial"/>
              <a:cs typeface="Arial" panose="020B0604020202020204" pitchFamily="34" charset="0"/>
              <a:sym typeface="Arial"/>
            </a:endParaRPr>
          </a:p>
        </p:txBody>
      </p:sp>
      <p:pic>
        <p:nvPicPr>
          <p:cNvPr id="4" name="Picture 3">
            <a:extLst>
              <a:ext uri="{FF2B5EF4-FFF2-40B4-BE49-F238E27FC236}">
                <a16:creationId xmlns:a16="http://schemas.microsoft.com/office/drawing/2014/main" id="{656B3EF3-17DD-CEC0-151A-E8F41B9907A4}"/>
              </a:ext>
            </a:extLst>
          </p:cNvPr>
          <p:cNvPicPr>
            <a:picLocks noChangeAspect="1"/>
          </p:cNvPicPr>
          <p:nvPr/>
        </p:nvPicPr>
        <p:blipFill>
          <a:blip r:embed="rId3"/>
          <a:stretch>
            <a:fillRect/>
          </a:stretch>
        </p:blipFill>
        <p:spPr>
          <a:xfrm>
            <a:off x="3832836" y="3779797"/>
            <a:ext cx="1307536" cy="1291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4093388"/>
          </a:xfrm>
          <a:prstGeom prst="rect">
            <a:avLst/>
          </a:prstGeom>
          <a:noFill/>
          <a:ln>
            <a:noFill/>
          </a:ln>
        </p:spPr>
        <p:txBody>
          <a:bodyPr spcFirstLastPara="1" wrap="square" lIns="91425" tIns="45700" rIns="91425" bIns="45700" anchor="t" anchorCtr="0">
            <a:spAutoFit/>
          </a:bodyPr>
          <a:lstStyle/>
          <a:p>
            <a:pPr algn="just"/>
            <a:r>
              <a:rPr lang="en-IN" sz="2000" b="1" dirty="0">
                <a:solidFill>
                  <a:schemeClr val="bg1"/>
                </a:solidFill>
              </a:rPr>
              <a:t>Problem Statement #7 – AI Agent for Digital Financial Literacy</a:t>
            </a:r>
            <a:endParaRPr lang="en-IN" sz="2000" b="1" dirty="0">
              <a:solidFill>
                <a:schemeClr val="bg1"/>
              </a:solidFill>
              <a:latin typeface="Arial" panose="020B0604020202020204" pitchFamily="34" charset="0"/>
              <a:cs typeface="Arial" panose="020B0604020202020204" pitchFamily="34" charset="0"/>
            </a:endParaRPr>
          </a:p>
          <a:p>
            <a:pPr algn="just"/>
            <a:r>
              <a:rPr lang="en-IN" sz="2000" b="1" dirty="0">
                <a:solidFill>
                  <a:schemeClr val="bg1"/>
                </a:solidFill>
                <a:latin typeface="Arial" panose="020B0604020202020204" pitchFamily="34" charset="0"/>
                <a:cs typeface="Arial" panose="020B0604020202020204" pitchFamily="34" charset="0"/>
              </a:rPr>
              <a:t>The Challenge</a:t>
            </a:r>
          </a:p>
          <a:p>
            <a:pPr algn="just"/>
            <a:r>
              <a:rPr lang="en-IN" sz="2000" dirty="0">
                <a:solidFill>
                  <a:schemeClr val="bg1"/>
                </a:solidFill>
                <a:latin typeface="Arial" panose="020B0604020202020204" pitchFamily="34" charset="0"/>
                <a:cs typeface="Arial" panose="020B0604020202020204" pitchFamily="34" charset="0"/>
              </a:rPr>
              <a:t>Millions of people in India still struggle with financial literacy despite the rapid growth of digital financial services. Understanding topics such as UPI transactions, online scam prevention, loan interest rates, budgeting, income tax filing, and personal finance management can be confusing, especially for first-time users and non-English speakers.</a:t>
            </a:r>
          </a:p>
          <a:p>
            <a:pPr algn="just"/>
            <a:r>
              <a:rPr lang="en-IN" sz="2000" dirty="0">
                <a:solidFill>
                  <a:schemeClr val="bg1"/>
                </a:solidFill>
                <a:latin typeface="Arial" panose="020B0604020202020204" pitchFamily="34" charset="0"/>
                <a:cs typeface="Arial" panose="020B0604020202020204" pitchFamily="34" charset="0"/>
              </a:rPr>
              <a:t>Current financial resources are often: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Complex and difficult to understand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Primarily available in English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Scattered across multiple websites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Dependent on expensive professional assistance </a:t>
            </a:r>
          </a:p>
          <a:p>
            <a:pPr algn="just"/>
            <a:r>
              <a:rPr lang="en-IN" sz="2000" dirty="0">
                <a:solidFill>
                  <a:schemeClr val="bg1"/>
                </a:solidFill>
                <a:latin typeface="Arial" panose="020B0604020202020204" pitchFamily="34" charset="0"/>
                <a:cs typeface="Arial" panose="020B0604020202020204" pitchFamily="34" charset="0"/>
              </a:rPr>
              <a:t>As a result, first-generation earners, rural communities, senior citizens, and digitally inexperienced users remain vulnerable to financial fraud and poor financial decisions.</a:t>
            </a:r>
          </a:p>
        </p:txBody>
      </p:sp>
      <p:sp>
        <p:nvSpPr>
          <p:cNvPr id="96" name="Google Shape;96;p34"/>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016718"/>
          </a:xfrm>
          <a:prstGeom prst="rect">
            <a:avLst/>
          </a:prstGeom>
          <a:noFill/>
          <a:ln>
            <a:noFill/>
          </a:ln>
        </p:spPr>
        <p:txBody>
          <a:bodyPr spcFirstLastPara="1" wrap="square" lIns="91425" tIns="45700" rIns="91425" bIns="45700" anchor="t" anchorCtr="0">
            <a:spAutoFit/>
          </a:bodyPr>
          <a:lstStyle/>
          <a:p>
            <a:pPr marL="342900" indent="-342900" algn="just">
              <a:buFont typeface="Arial" panose="020B0604020202020204" pitchFamily="34" charset="0"/>
              <a:buChar char="•"/>
            </a:pP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is a full-stack RAG-based AI agent for Indian Digital Financial Literacy built entirely on IBM Cloud Lite services. It provides: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conversational AI chat interface where users ask tax and finance questions in English or Hindi and receive cited, grounded answers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Tax Calculator that instantly compares Old vs New regime and recommends the better option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Filing Readiness Meter that scores the user's ITR preparation out of 100 and generates a personalized action plan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Smart Form Vault where users download official tax forms with IBM Granite-generated fill guides, upload completed documents to IBM Cloud Object Storage, and receive instant AI-powered document scans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An AI Document Completeness Checker that audits 12 key tax documents and tells users exactly what is missing and where to obtain 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Deadline Calendar showing all ITR and advance tax deadlines on an interactive calendar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in both English and Hindi for accessibility</a:t>
            </a:r>
          </a:p>
        </p:txBody>
      </p:sp>
      <p:sp>
        <p:nvSpPr>
          <p:cNvPr id="102" name="Google Shape;102;p35"/>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87EB474-045E-56D7-370B-DF22E6C464A8}"/>
              </a:ext>
            </a:extLst>
          </p:cNvPr>
          <p:cNvGraphicFramePr>
            <a:graphicFrameLocks noGrp="1"/>
          </p:cNvGraphicFramePr>
          <p:nvPr>
            <p:extLst>
              <p:ext uri="{D42A27DB-BD31-4B8C-83A1-F6EECF244321}">
                <p14:modId xmlns:p14="http://schemas.microsoft.com/office/powerpoint/2010/main" val="3051579732"/>
              </p:ext>
            </p:extLst>
          </p:nvPr>
        </p:nvGraphicFramePr>
        <p:xfrm>
          <a:off x="1028343" y="1191768"/>
          <a:ext cx="8534400" cy="5486400"/>
        </p:xfrm>
        <a:graphic>
          <a:graphicData uri="http://schemas.openxmlformats.org/drawingml/2006/table">
            <a:tbl>
              <a:tblPr/>
              <a:tblGrid>
                <a:gridCol w="4267200">
                  <a:extLst>
                    <a:ext uri="{9D8B030D-6E8A-4147-A177-3AD203B41FA5}">
                      <a16:colId xmlns:a16="http://schemas.microsoft.com/office/drawing/2014/main" val="783226823"/>
                    </a:ext>
                  </a:extLst>
                </a:gridCol>
                <a:gridCol w="4267200">
                  <a:extLst>
                    <a:ext uri="{9D8B030D-6E8A-4147-A177-3AD203B41FA5}">
                      <a16:colId xmlns:a16="http://schemas.microsoft.com/office/drawing/2014/main" val="1957057233"/>
                    </a:ext>
                  </a:extLst>
                </a:gridCol>
              </a:tblGrid>
              <a:tr h="0">
                <a:tc>
                  <a:txBody>
                    <a:bodyPr/>
                    <a:lstStyle/>
                    <a:p>
                      <a:pPr marL="0" marR="0" indent="0" algn="just" fontAlgn="t">
                        <a:buNone/>
                      </a:pPr>
                      <a:r>
                        <a:rPr lang="en-IN" sz="2000" b="1" dirty="0">
                          <a:solidFill>
                            <a:schemeClr val="bg1"/>
                          </a:solidFill>
                          <a:effectLst/>
                          <a:latin typeface="Arial" panose="020B0604020202020204" pitchFamily="34" charset="0"/>
                          <a:cs typeface="Arial" panose="020B0604020202020204" pitchFamily="34" charset="0"/>
                        </a:rPr>
                        <a:t>Layer</a:t>
                      </a:r>
                    </a:p>
                  </a:txBody>
                  <a:tcPr marR="121920">
                    <a:lnL w="12700" cap="flat" cmpd="sng" algn="ctr">
                      <a:solidFill>
                        <a:srgbClr val="20891B"/>
                      </a:solidFill>
                      <a:prstDash val="solid"/>
                      <a:round/>
                      <a:headEnd type="none" w="med" len="med"/>
                      <a:tailEnd type="none" w="med" len="med"/>
                    </a:lnL>
                    <a:lnR w="12700" cap="flat" cmpd="sng" algn="ctr">
                      <a:solidFill>
                        <a:srgbClr val="A0901B"/>
                      </a:solidFill>
                      <a:prstDash val="solid"/>
                      <a:round/>
                      <a:headEnd type="none" w="med" len="med"/>
                      <a:tailEnd type="none" w="med" len="med"/>
                    </a:lnR>
                    <a:lnT w="12700" cap="flat" cmpd="sng" algn="ctr">
                      <a:solidFill>
                        <a:srgbClr val="20891B"/>
                      </a:solidFill>
                      <a:prstDash val="solid"/>
                      <a:round/>
                      <a:headEnd type="none" w="med" len="med"/>
                      <a:tailEnd type="none" w="med" len="med"/>
                    </a:lnT>
                    <a:lnB w="12700" cap="flat" cmpd="sng" algn="ctr">
                      <a:solidFill>
                        <a:srgbClr val="60941B"/>
                      </a:solidFill>
                      <a:prstDash val="solid"/>
                      <a:round/>
                      <a:headEnd type="none" w="med" len="med"/>
                      <a:tailEnd type="none" w="med" len="med"/>
                    </a:lnB>
                    <a:noFill/>
                  </a:tcPr>
                </a:tc>
                <a:tc>
                  <a:txBody>
                    <a:bodyPr/>
                    <a:lstStyle/>
                    <a:p>
                      <a:pPr marL="0" marR="0" indent="0" algn="just" fontAlgn="t">
                        <a:buNone/>
                      </a:pPr>
                      <a:r>
                        <a:rPr lang="en-IN" sz="2000" b="1">
                          <a:solidFill>
                            <a:schemeClr val="bg1"/>
                          </a:solidFill>
                          <a:effectLst/>
                          <a:latin typeface="Arial" panose="020B0604020202020204" pitchFamily="34" charset="0"/>
                          <a:cs typeface="Arial" panose="020B0604020202020204" pitchFamily="34" charset="0"/>
                        </a:rPr>
                        <a:t>Technology</a:t>
                      </a:r>
                    </a:p>
                  </a:txBody>
                  <a:tcPr marR="121920">
                    <a:lnL w="12700" cap="flat" cmpd="sng" algn="ctr">
                      <a:solidFill>
                        <a:srgbClr val="A0901B"/>
                      </a:solidFill>
                      <a:prstDash val="solid"/>
                      <a:round/>
                      <a:headEnd type="none" w="med" len="med"/>
                      <a:tailEnd type="none" w="med" len="med"/>
                    </a:lnL>
                    <a:lnR w="12700" cap="flat" cmpd="sng" algn="ctr">
                      <a:solidFill>
                        <a:srgbClr val="A0901B"/>
                      </a:solidFill>
                      <a:prstDash val="solid"/>
                      <a:round/>
                      <a:headEnd type="none" w="med" len="med"/>
                      <a:tailEnd type="none" w="med" len="med"/>
                    </a:lnR>
                    <a:lnT w="12700" cap="flat" cmpd="sng" algn="ctr">
                      <a:solidFill>
                        <a:srgbClr val="A0901B"/>
                      </a:solidFill>
                      <a:prstDash val="solid"/>
                      <a:round/>
                      <a:headEnd type="none" w="med" len="med"/>
                      <a:tailEnd type="none" w="med" len="med"/>
                    </a:lnT>
                    <a:lnB w="12700" cap="flat" cmpd="sng" algn="ctr">
                      <a:solidFill>
                        <a:srgbClr val="B0981B"/>
                      </a:solidFill>
                      <a:prstDash val="solid"/>
                      <a:round/>
                      <a:headEnd type="none" w="med" len="med"/>
                      <a:tailEnd type="none" w="med" len="med"/>
                    </a:lnB>
                    <a:noFill/>
                  </a:tcPr>
                </a:tc>
                <a:extLst>
                  <a:ext uri="{0D108BD9-81ED-4DB2-BD59-A6C34878D82A}">
                    <a16:rowId xmlns:a16="http://schemas.microsoft.com/office/drawing/2014/main" val="4181122035"/>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Frontend</a:t>
                      </a:r>
                    </a:p>
                  </a:txBody>
                  <a:tcPr marR="121920">
                    <a:lnL w="12700" cap="flat" cmpd="sng" algn="ctr">
                      <a:solidFill>
                        <a:srgbClr val="60941B"/>
                      </a:solidFill>
                      <a:prstDash val="solid"/>
                      <a:round/>
                      <a:headEnd type="none" w="med" len="med"/>
                      <a:tailEnd type="none" w="med" len="med"/>
                    </a:lnL>
                    <a:lnR w="12700" cap="flat" cmpd="sng" algn="ctr">
                      <a:solidFill>
                        <a:srgbClr val="B0981B"/>
                      </a:solidFill>
                      <a:prstDash val="solid"/>
                      <a:round/>
                      <a:headEnd type="none" w="med" len="med"/>
                      <a:tailEnd type="none" w="med" len="med"/>
                    </a:lnR>
                    <a:lnT w="12700" cap="flat" cmpd="sng" algn="ctr">
                      <a:solidFill>
                        <a:srgbClr val="60941B"/>
                      </a:solidFill>
                      <a:prstDash val="solid"/>
                      <a:round/>
                      <a:headEnd type="none" w="med" len="med"/>
                      <a:tailEnd type="none" w="med" len="med"/>
                    </a:lnT>
                    <a:lnB w="12700" cap="flat" cmpd="sng" algn="ctr">
                      <a:solidFill>
                        <a:srgbClr val="B0A1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React 18</a:t>
                      </a:r>
                    </a:p>
                  </a:txBody>
                  <a:tcPr marR="121920">
                    <a:lnL w="12700" cap="flat" cmpd="sng" algn="ctr">
                      <a:solidFill>
                        <a:srgbClr val="B0981B"/>
                      </a:solidFill>
                      <a:prstDash val="solid"/>
                      <a:round/>
                      <a:headEnd type="none" w="med" len="med"/>
                      <a:tailEnd type="none" w="med" len="med"/>
                    </a:lnL>
                    <a:lnR w="12700" cap="flat" cmpd="sng" algn="ctr">
                      <a:solidFill>
                        <a:srgbClr val="B0981B"/>
                      </a:solidFill>
                      <a:prstDash val="solid"/>
                      <a:round/>
                      <a:headEnd type="none" w="med" len="med"/>
                      <a:tailEnd type="none" w="med" len="med"/>
                    </a:lnR>
                    <a:lnT w="12700" cap="flat" cmpd="sng" algn="ctr">
                      <a:solidFill>
                        <a:srgbClr val="B0981B"/>
                      </a:solidFill>
                      <a:prstDash val="solid"/>
                      <a:round/>
                      <a:headEnd type="none" w="med" len="med"/>
                      <a:tailEnd type="none" w="med" len="med"/>
                    </a:lnT>
                    <a:lnB w="12700" cap="flat" cmpd="sng" algn="ctr">
                      <a:solidFill>
                        <a:srgbClr val="E09E1B"/>
                      </a:solidFill>
                      <a:prstDash val="solid"/>
                      <a:round/>
                      <a:headEnd type="none" w="med" len="med"/>
                      <a:tailEnd type="none" w="med" len="med"/>
                    </a:lnB>
                    <a:noFill/>
                  </a:tcPr>
                </a:tc>
                <a:extLst>
                  <a:ext uri="{0D108BD9-81ED-4DB2-BD59-A6C34878D82A}">
                    <a16:rowId xmlns:a16="http://schemas.microsoft.com/office/drawing/2014/main" val="1110250535"/>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Backend</a:t>
                      </a:r>
                    </a:p>
                  </a:txBody>
                  <a:tcPr marR="121920">
                    <a:lnL w="12700" cap="flat" cmpd="sng" algn="ctr">
                      <a:solidFill>
                        <a:srgbClr val="B0A11B"/>
                      </a:solidFill>
                      <a:prstDash val="solid"/>
                      <a:round/>
                      <a:headEnd type="none" w="med" len="med"/>
                      <a:tailEnd type="none" w="med" len="med"/>
                    </a:lnL>
                    <a:lnR w="12700" cap="flat" cmpd="sng" algn="ctr">
                      <a:solidFill>
                        <a:srgbClr val="E09E1B"/>
                      </a:solidFill>
                      <a:prstDash val="solid"/>
                      <a:round/>
                      <a:headEnd type="none" w="med" len="med"/>
                      <a:tailEnd type="none" w="med" len="med"/>
                    </a:lnR>
                    <a:lnT w="12700" cap="flat" cmpd="sng" algn="ctr">
                      <a:solidFill>
                        <a:srgbClr val="B0A11B"/>
                      </a:solidFill>
                      <a:prstDash val="solid"/>
                      <a:round/>
                      <a:headEnd type="none" w="med" len="med"/>
                      <a:tailEnd type="none" w="med" len="med"/>
                    </a:lnT>
                    <a:lnB w="12700" cap="flat" cmpd="sng" algn="ctr">
                      <a:solidFill>
                        <a:srgbClr val="90AF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Python 3.13, Flask</a:t>
                      </a:r>
                    </a:p>
                  </a:txBody>
                  <a:tcPr marR="121920">
                    <a:lnL w="12700" cap="flat" cmpd="sng" algn="ctr">
                      <a:solidFill>
                        <a:srgbClr val="E09E1B"/>
                      </a:solidFill>
                      <a:prstDash val="solid"/>
                      <a:round/>
                      <a:headEnd type="none" w="med" len="med"/>
                      <a:tailEnd type="none" w="med" len="med"/>
                    </a:lnL>
                    <a:lnR w="12700" cap="flat" cmpd="sng" algn="ctr">
                      <a:solidFill>
                        <a:srgbClr val="E09E1B"/>
                      </a:solidFill>
                      <a:prstDash val="solid"/>
                      <a:round/>
                      <a:headEnd type="none" w="med" len="med"/>
                      <a:tailEnd type="none" w="med" len="med"/>
                    </a:lnR>
                    <a:lnT w="12700" cap="flat" cmpd="sng" algn="ctr">
                      <a:solidFill>
                        <a:srgbClr val="E09E1B"/>
                      </a:solidFill>
                      <a:prstDash val="solid"/>
                      <a:round/>
                      <a:headEnd type="none" w="med" len="med"/>
                      <a:tailEnd type="none" w="med" len="med"/>
                    </a:lnT>
                    <a:lnB w="12700" cap="flat" cmpd="sng" algn="ctr">
                      <a:solidFill>
                        <a:srgbClr val="10AB1B"/>
                      </a:solidFill>
                      <a:prstDash val="solid"/>
                      <a:round/>
                      <a:headEnd type="none" w="med" len="med"/>
                      <a:tailEnd type="none" w="med" len="med"/>
                    </a:lnB>
                    <a:noFill/>
                  </a:tcPr>
                </a:tc>
                <a:extLst>
                  <a:ext uri="{0D108BD9-81ED-4DB2-BD59-A6C34878D82A}">
                    <a16:rowId xmlns:a16="http://schemas.microsoft.com/office/drawing/2014/main" val="3889120624"/>
                  </a:ext>
                </a:extLst>
              </a:tr>
              <a:tr h="0">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LLM</a:t>
                      </a:r>
                    </a:p>
                  </a:txBody>
                  <a:tcPr marR="121920">
                    <a:lnL w="12700" cap="flat" cmpd="sng" algn="ctr">
                      <a:solidFill>
                        <a:srgbClr val="90AF1B"/>
                      </a:solidFill>
                      <a:prstDash val="solid"/>
                      <a:round/>
                      <a:headEnd type="none" w="med" len="med"/>
                      <a:tailEnd type="none" w="med" len="med"/>
                    </a:lnL>
                    <a:lnR w="12700" cap="flat" cmpd="sng" algn="ctr">
                      <a:solidFill>
                        <a:srgbClr val="10AB1B"/>
                      </a:solidFill>
                      <a:prstDash val="solid"/>
                      <a:round/>
                      <a:headEnd type="none" w="med" len="med"/>
                      <a:tailEnd type="none" w="med" len="med"/>
                    </a:lnR>
                    <a:lnT w="12700" cap="flat" cmpd="sng" algn="ctr">
                      <a:solidFill>
                        <a:srgbClr val="90AF1B"/>
                      </a:solidFill>
                      <a:prstDash val="solid"/>
                      <a:round/>
                      <a:headEnd type="none" w="med" len="med"/>
                      <a:tailEnd type="none" w="med" len="med"/>
                    </a:lnT>
                    <a:lnB w="12700" cap="flat" cmpd="sng" algn="ctr">
                      <a:solidFill>
                        <a:srgbClr val="B0B0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mistralai/mistral-small via IBM watsonx.ai</a:t>
                      </a:r>
                    </a:p>
                  </a:txBody>
                  <a:tcPr marR="121920">
                    <a:lnL w="12700" cap="flat" cmpd="sng" algn="ctr">
                      <a:solidFill>
                        <a:srgbClr val="10AB1B"/>
                      </a:solidFill>
                      <a:prstDash val="solid"/>
                      <a:round/>
                      <a:headEnd type="none" w="med" len="med"/>
                      <a:tailEnd type="none" w="med" len="med"/>
                    </a:lnL>
                    <a:lnR w="12700" cap="flat" cmpd="sng" algn="ctr">
                      <a:solidFill>
                        <a:srgbClr val="10AB1B"/>
                      </a:solidFill>
                      <a:prstDash val="solid"/>
                      <a:round/>
                      <a:headEnd type="none" w="med" len="med"/>
                      <a:tailEnd type="none" w="med" len="med"/>
                    </a:lnR>
                    <a:lnT w="12700" cap="flat" cmpd="sng" algn="ctr">
                      <a:solidFill>
                        <a:srgbClr val="10AB1B"/>
                      </a:solidFill>
                      <a:prstDash val="solid"/>
                      <a:round/>
                      <a:headEnd type="none" w="med" len="med"/>
                      <a:tailEnd type="none" w="med" len="med"/>
                    </a:lnT>
                    <a:lnB w="12700" cap="flat" cmpd="sng" algn="ctr">
                      <a:solidFill>
                        <a:srgbClr val="C0B81B"/>
                      </a:solidFill>
                      <a:prstDash val="solid"/>
                      <a:round/>
                      <a:headEnd type="none" w="med" len="med"/>
                      <a:tailEnd type="none" w="med" len="med"/>
                    </a:lnB>
                    <a:noFill/>
                  </a:tcPr>
                </a:tc>
                <a:extLst>
                  <a:ext uri="{0D108BD9-81ED-4DB2-BD59-A6C34878D82A}">
                    <a16:rowId xmlns:a16="http://schemas.microsoft.com/office/drawing/2014/main" val="3774362721"/>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NLP</a:t>
                      </a:r>
                    </a:p>
                  </a:txBody>
                  <a:tcPr marR="121920">
                    <a:lnL w="12700" cap="flat" cmpd="sng" algn="ctr">
                      <a:solidFill>
                        <a:srgbClr val="B0B01B"/>
                      </a:solidFill>
                      <a:prstDash val="solid"/>
                      <a:round/>
                      <a:headEnd type="none" w="med" len="med"/>
                      <a:tailEnd type="none" w="med" len="med"/>
                    </a:lnL>
                    <a:lnR w="12700" cap="flat" cmpd="sng" algn="ctr">
                      <a:solidFill>
                        <a:srgbClr val="C0B81B"/>
                      </a:solidFill>
                      <a:prstDash val="solid"/>
                      <a:round/>
                      <a:headEnd type="none" w="med" len="med"/>
                      <a:tailEnd type="none" w="med" len="med"/>
                    </a:lnR>
                    <a:lnT w="12700" cap="flat" cmpd="sng" algn="ctr">
                      <a:solidFill>
                        <a:srgbClr val="B0B01B"/>
                      </a:solidFill>
                      <a:prstDash val="solid"/>
                      <a:round/>
                      <a:headEnd type="none" w="med" len="med"/>
                      <a:tailEnd type="none" w="med" len="med"/>
                    </a:lnT>
                    <a:lnB w="12700" cap="flat" cmpd="sng" algn="ctr">
                      <a:solidFill>
                        <a:srgbClr val="D0BA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Watson Natural Language Understanding</a:t>
                      </a:r>
                    </a:p>
                  </a:txBody>
                  <a:tcPr marR="121920">
                    <a:lnL w="12700" cap="flat" cmpd="sng" algn="ctr">
                      <a:solidFill>
                        <a:srgbClr val="C0B81B"/>
                      </a:solidFill>
                      <a:prstDash val="solid"/>
                      <a:round/>
                      <a:headEnd type="none" w="med" len="med"/>
                      <a:tailEnd type="none" w="med" len="med"/>
                    </a:lnL>
                    <a:lnR w="12700" cap="flat" cmpd="sng" algn="ctr">
                      <a:solidFill>
                        <a:srgbClr val="C0B81B"/>
                      </a:solidFill>
                      <a:prstDash val="solid"/>
                      <a:round/>
                      <a:headEnd type="none" w="med" len="med"/>
                      <a:tailEnd type="none" w="med" len="med"/>
                    </a:lnR>
                    <a:lnT w="12700" cap="flat" cmpd="sng" algn="ctr">
                      <a:solidFill>
                        <a:srgbClr val="C0B81B"/>
                      </a:solidFill>
                      <a:prstDash val="solid"/>
                      <a:round/>
                      <a:headEnd type="none" w="med" len="med"/>
                      <a:tailEnd type="none" w="med" len="med"/>
                    </a:lnT>
                    <a:lnB w="12700" cap="flat" cmpd="sng" algn="ctr">
                      <a:solidFill>
                        <a:srgbClr val="C0BB1B"/>
                      </a:solidFill>
                      <a:prstDash val="solid"/>
                      <a:round/>
                      <a:headEnd type="none" w="med" len="med"/>
                      <a:tailEnd type="none" w="med" len="med"/>
                    </a:lnB>
                    <a:noFill/>
                  </a:tcPr>
                </a:tc>
                <a:extLst>
                  <a:ext uri="{0D108BD9-81ED-4DB2-BD59-A6C34878D82A}">
                    <a16:rowId xmlns:a16="http://schemas.microsoft.com/office/drawing/2014/main" val="343866596"/>
                  </a:ext>
                </a:extLst>
              </a:tr>
              <a:tr h="0">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RAG</a:t>
                      </a:r>
                    </a:p>
                  </a:txBody>
                  <a:tcPr marR="121920">
                    <a:lnL w="12700" cap="flat" cmpd="sng" algn="ctr">
                      <a:solidFill>
                        <a:srgbClr val="D0BA1B"/>
                      </a:solidFill>
                      <a:prstDash val="solid"/>
                      <a:round/>
                      <a:headEnd type="none" w="med" len="med"/>
                      <a:tailEnd type="none" w="med" len="med"/>
                    </a:lnL>
                    <a:lnR w="12700" cap="flat" cmpd="sng" algn="ctr">
                      <a:solidFill>
                        <a:srgbClr val="C0BB1B"/>
                      </a:solidFill>
                      <a:prstDash val="solid"/>
                      <a:round/>
                      <a:headEnd type="none" w="med" len="med"/>
                      <a:tailEnd type="none" w="med" len="med"/>
                    </a:lnR>
                    <a:lnT w="12700" cap="flat" cmpd="sng" algn="ctr">
                      <a:solidFill>
                        <a:srgbClr val="D0BA1B"/>
                      </a:solidFill>
                      <a:prstDash val="solid"/>
                      <a:round/>
                      <a:headEnd type="none" w="med" len="med"/>
                      <a:tailEnd type="none" w="med" len="med"/>
                    </a:lnT>
                    <a:lnB w="12700" cap="flat" cmpd="sng" algn="ctr">
                      <a:solidFill>
                        <a:srgbClr val="20C5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ChromaDB + sentence-transformers (all-MiniLM-L6-v2)</a:t>
                      </a:r>
                    </a:p>
                  </a:txBody>
                  <a:tcPr marR="121920">
                    <a:lnL w="12700" cap="flat" cmpd="sng" algn="ctr">
                      <a:solidFill>
                        <a:srgbClr val="C0BB1B"/>
                      </a:solidFill>
                      <a:prstDash val="solid"/>
                      <a:round/>
                      <a:headEnd type="none" w="med" len="med"/>
                      <a:tailEnd type="none" w="med" len="med"/>
                    </a:lnL>
                    <a:lnR w="12700" cap="flat" cmpd="sng" algn="ctr">
                      <a:solidFill>
                        <a:srgbClr val="C0BB1B"/>
                      </a:solidFill>
                      <a:prstDash val="solid"/>
                      <a:round/>
                      <a:headEnd type="none" w="med" len="med"/>
                      <a:tailEnd type="none" w="med" len="med"/>
                    </a:lnR>
                    <a:lnT w="12700" cap="flat" cmpd="sng" algn="ctr">
                      <a:solidFill>
                        <a:srgbClr val="C0BB1B"/>
                      </a:solidFill>
                      <a:prstDash val="solid"/>
                      <a:round/>
                      <a:headEnd type="none" w="med" len="med"/>
                      <a:tailEnd type="none" w="med" len="med"/>
                    </a:lnT>
                    <a:lnB w="12700" cap="flat" cmpd="sng" algn="ctr">
                      <a:solidFill>
                        <a:srgbClr val="90C41B"/>
                      </a:solidFill>
                      <a:prstDash val="solid"/>
                      <a:round/>
                      <a:headEnd type="none" w="med" len="med"/>
                      <a:tailEnd type="none" w="med" len="med"/>
                    </a:lnB>
                    <a:noFill/>
                  </a:tcPr>
                </a:tc>
                <a:extLst>
                  <a:ext uri="{0D108BD9-81ED-4DB2-BD59-A6C34878D82A}">
                    <a16:rowId xmlns:a16="http://schemas.microsoft.com/office/drawing/2014/main" val="130957085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PDF Processing</a:t>
                      </a:r>
                    </a:p>
                  </a:txBody>
                  <a:tcPr marR="121920">
                    <a:lnL w="12700" cap="flat" cmpd="sng" algn="ctr">
                      <a:solidFill>
                        <a:srgbClr val="20C51B"/>
                      </a:solidFill>
                      <a:prstDash val="solid"/>
                      <a:round/>
                      <a:headEnd type="none" w="med" len="med"/>
                      <a:tailEnd type="none" w="med" len="med"/>
                    </a:lnL>
                    <a:lnR w="12700" cap="flat" cmpd="sng" algn="ctr">
                      <a:solidFill>
                        <a:srgbClr val="90C41B"/>
                      </a:solidFill>
                      <a:prstDash val="solid"/>
                      <a:round/>
                      <a:headEnd type="none" w="med" len="med"/>
                      <a:tailEnd type="none" w="med" len="med"/>
                    </a:lnR>
                    <a:lnT w="12700" cap="flat" cmpd="sng" algn="ctr">
                      <a:solidFill>
                        <a:srgbClr val="20C51B"/>
                      </a:solidFill>
                      <a:prstDash val="solid"/>
                      <a:round/>
                      <a:headEnd type="none" w="med" len="med"/>
                      <a:tailEnd type="none" w="med" len="med"/>
                    </a:lnT>
                    <a:lnB w="12700" cap="flat" cmpd="sng" algn="ctr">
                      <a:solidFill>
                        <a:srgbClr val="10C9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PyMuPDF (fitz)</a:t>
                      </a:r>
                    </a:p>
                  </a:txBody>
                  <a:tcPr marR="121920">
                    <a:lnL w="12700" cap="flat" cmpd="sng" algn="ctr">
                      <a:solidFill>
                        <a:srgbClr val="90C41B"/>
                      </a:solidFill>
                      <a:prstDash val="solid"/>
                      <a:round/>
                      <a:headEnd type="none" w="med" len="med"/>
                      <a:tailEnd type="none" w="med" len="med"/>
                    </a:lnL>
                    <a:lnR w="12700" cap="flat" cmpd="sng" algn="ctr">
                      <a:solidFill>
                        <a:srgbClr val="90C41B"/>
                      </a:solidFill>
                      <a:prstDash val="solid"/>
                      <a:round/>
                      <a:headEnd type="none" w="med" len="med"/>
                      <a:tailEnd type="none" w="med" len="med"/>
                    </a:lnR>
                    <a:lnT w="12700" cap="flat" cmpd="sng" algn="ctr">
                      <a:solidFill>
                        <a:srgbClr val="90C41B"/>
                      </a:solidFill>
                      <a:prstDash val="solid"/>
                      <a:round/>
                      <a:headEnd type="none" w="med" len="med"/>
                      <a:tailEnd type="none" w="med" len="med"/>
                    </a:lnT>
                    <a:lnB w="12700" cap="flat" cmpd="sng" algn="ctr">
                      <a:solidFill>
                        <a:srgbClr val="90D31B"/>
                      </a:solidFill>
                      <a:prstDash val="solid"/>
                      <a:round/>
                      <a:headEnd type="none" w="med" len="med"/>
                      <a:tailEnd type="none" w="med" len="med"/>
                    </a:lnB>
                    <a:noFill/>
                  </a:tcPr>
                </a:tc>
                <a:extLst>
                  <a:ext uri="{0D108BD9-81ED-4DB2-BD59-A6C34878D82A}">
                    <a16:rowId xmlns:a16="http://schemas.microsoft.com/office/drawing/2014/main" val="1372256353"/>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Document Storage</a:t>
                      </a:r>
                    </a:p>
                  </a:txBody>
                  <a:tcPr marR="121920">
                    <a:lnL w="12700" cap="flat" cmpd="sng" algn="ctr">
                      <a:solidFill>
                        <a:srgbClr val="10C91B"/>
                      </a:solidFill>
                      <a:prstDash val="solid"/>
                      <a:round/>
                      <a:headEnd type="none" w="med" len="med"/>
                      <a:tailEnd type="none" w="med" len="med"/>
                    </a:lnL>
                    <a:lnR w="12700" cap="flat" cmpd="sng" algn="ctr">
                      <a:solidFill>
                        <a:srgbClr val="90D31B"/>
                      </a:solidFill>
                      <a:prstDash val="solid"/>
                      <a:round/>
                      <a:headEnd type="none" w="med" len="med"/>
                      <a:tailEnd type="none" w="med" len="med"/>
                    </a:lnR>
                    <a:lnT w="12700" cap="flat" cmpd="sng" algn="ctr">
                      <a:solidFill>
                        <a:srgbClr val="10C91B"/>
                      </a:solidFill>
                      <a:prstDash val="solid"/>
                      <a:round/>
                      <a:headEnd type="none" w="med" len="med"/>
                      <a:tailEnd type="none" w="med" len="med"/>
                    </a:lnT>
                    <a:lnB w="12700" cap="flat" cmpd="sng" algn="ctr">
                      <a:solidFill>
                        <a:srgbClr val="70D8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Cloud Object Storage</a:t>
                      </a:r>
                    </a:p>
                  </a:txBody>
                  <a:tcPr marR="121920">
                    <a:lnL w="12700" cap="flat" cmpd="sng" algn="ctr">
                      <a:solidFill>
                        <a:srgbClr val="90D31B"/>
                      </a:solidFill>
                      <a:prstDash val="solid"/>
                      <a:round/>
                      <a:headEnd type="none" w="med" len="med"/>
                      <a:tailEnd type="none" w="med" len="med"/>
                    </a:lnL>
                    <a:lnR w="12700" cap="flat" cmpd="sng" algn="ctr">
                      <a:solidFill>
                        <a:srgbClr val="90D31B"/>
                      </a:solidFill>
                      <a:prstDash val="solid"/>
                      <a:round/>
                      <a:headEnd type="none" w="med" len="med"/>
                      <a:tailEnd type="none" w="med" len="med"/>
                    </a:lnR>
                    <a:lnT w="12700" cap="flat" cmpd="sng" algn="ctr">
                      <a:solidFill>
                        <a:srgbClr val="90D31B"/>
                      </a:solidFill>
                      <a:prstDash val="solid"/>
                      <a:round/>
                      <a:headEnd type="none" w="med" len="med"/>
                      <a:tailEnd type="none" w="med" len="med"/>
                    </a:lnT>
                    <a:lnB w="12700" cap="flat" cmpd="sng" algn="ctr">
                      <a:solidFill>
                        <a:srgbClr val="C0DC1B"/>
                      </a:solidFill>
                      <a:prstDash val="solid"/>
                      <a:round/>
                      <a:headEnd type="none" w="med" len="med"/>
                      <a:tailEnd type="none" w="med" len="med"/>
                    </a:lnB>
                    <a:noFill/>
                  </a:tcPr>
                </a:tc>
                <a:extLst>
                  <a:ext uri="{0D108BD9-81ED-4DB2-BD59-A6C34878D82A}">
                    <a16:rowId xmlns:a16="http://schemas.microsoft.com/office/drawing/2014/main" val="44302859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Voice</a:t>
                      </a:r>
                    </a:p>
                  </a:txBody>
                  <a:tcPr marR="121920">
                    <a:lnL w="12700" cap="flat" cmpd="sng" algn="ctr">
                      <a:solidFill>
                        <a:srgbClr val="70D81B"/>
                      </a:solidFill>
                      <a:prstDash val="solid"/>
                      <a:round/>
                      <a:headEnd type="none" w="med" len="med"/>
                      <a:tailEnd type="none" w="med" len="med"/>
                    </a:lnL>
                    <a:lnR w="12700" cap="flat" cmpd="sng" algn="ctr">
                      <a:solidFill>
                        <a:srgbClr val="C0DC1B"/>
                      </a:solidFill>
                      <a:prstDash val="solid"/>
                      <a:round/>
                      <a:headEnd type="none" w="med" len="med"/>
                      <a:tailEnd type="none" w="med" len="med"/>
                    </a:lnR>
                    <a:lnT w="12700" cap="flat" cmpd="sng" algn="ctr">
                      <a:solidFill>
                        <a:srgbClr val="70D81B"/>
                      </a:solidFill>
                      <a:prstDash val="solid"/>
                      <a:round/>
                      <a:headEnd type="none" w="med" len="med"/>
                      <a:tailEnd type="none" w="med" len="med"/>
                    </a:lnT>
                    <a:lnB w="12700" cap="flat" cmpd="sng" algn="ctr">
                      <a:solidFill>
                        <a:srgbClr val="30DF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Browser Web Speech API</a:t>
                      </a:r>
                    </a:p>
                  </a:txBody>
                  <a:tcPr marR="121920">
                    <a:lnL w="12700" cap="flat" cmpd="sng" algn="ctr">
                      <a:solidFill>
                        <a:srgbClr val="C0DC1B"/>
                      </a:solidFill>
                      <a:prstDash val="solid"/>
                      <a:round/>
                      <a:headEnd type="none" w="med" len="med"/>
                      <a:tailEnd type="none" w="med" len="med"/>
                    </a:lnL>
                    <a:lnR w="12700" cap="flat" cmpd="sng" algn="ctr">
                      <a:solidFill>
                        <a:srgbClr val="C0DC1B"/>
                      </a:solidFill>
                      <a:prstDash val="solid"/>
                      <a:round/>
                      <a:headEnd type="none" w="med" len="med"/>
                      <a:tailEnd type="none" w="med" len="med"/>
                    </a:lnR>
                    <a:lnT w="12700" cap="flat" cmpd="sng" algn="ctr">
                      <a:solidFill>
                        <a:srgbClr val="C0DC1B"/>
                      </a:solidFill>
                      <a:prstDash val="solid"/>
                      <a:round/>
                      <a:headEnd type="none" w="med" len="med"/>
                      <a:tailEnd type="none" w="med" len="med"/>
                    </a:lnT>
                    <a:lnB w="12700" cap="flat" cmpd="sng" algn="ctr">
                      <a:solidFill>
                        <a:srgbClr val="E0E31B"/>
                      </a:solidFill>
                      <a:prstDash val="solid"/>
                      <a:round/>
                      <a:headEnd type="none" w="med" len="med"/>
                      <a:tailEnd type="none" w="med" len="med"/>
                    </a:lnB>
                    <a:noFill/>
                  </a:tcPr>
                </a:tc>
                <a:extLst>
                  <a:ext uri="{0D108BD9-81ED-4DB2-BD59-A6C34878D82A}">
                    <a16:rowId xmlns:a16="http://schemas.microsoft.com/office/drawing/2014/main" val="281972821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Services</a:t>
                      </a:r>
                    </a:p>
                  </a:txBody>
                  <a:tcPr marR="121920">
                    <a:lnL w="12700" cap="flat" cmpd="sng" algn="ctr">
                      <a:solidFill>
                        <a:srgbClr val="30DF1B"/>
                      </a:solidFill>
                      <a:prstDash val="solid"/>
                      <a:round/>
                      <a:headEnd type="none" w="med" len="med"/>
                      <a:tailEnd type="none" w="med" len="med"/>
                    </a:lnL>
                    <a:lnR w="12700" cap="flat" cmpd="sng" algn="ctr">
                      <a:solidFill>
                        <a:srgbClr val="E0E31B"/>
                      </a:solidFill>
                      <a:prstDash val="solid"/>
                      <a:round/>
                      <a:headEnd type="none" w="med" len="med"/>
                      <a:tailEnd type="none" w="med" len="med"/>
                    </a:lnR>
                    <a:lnT w="12700" cap="flat" cmpd="sng" algn="ctr">
                      <a:solidFill>
                        <a:srgbClr val="30DF1B"/>
                      </a:solidFill>
                      <a:prstDash val="solid"/>
                      <a:round/>
                      <a:headEnd type="none" w="med" len="med"/>
                      <a:tailEnd type="none" w="med" len="med"/>
                    </a:lnT>
                    <a:lnB w="3810" cap="flat" cmpd="sng" algn="ctr">
                      <a:solidFill>
                        <a:srgbClr val="30DF1B"/>
                      </a:solidFill>
                      <a:prstDash val="solid"/>
                      <a:round/>
                      <a:headEnd type="none" w="med" len="med"/>
                      <a:tailEnd type="none" w="med" len="med"/>
                    </a:lnB>
                    <a:noFill/>
                  </a:tcPr>
                </a:tc>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watsonx.ai, Watson ML, Watson NLU, Watson Assistant, IBM COS,</a:t>
                      </a:r>
                      <a:r>
                        <a:rPr lang="en-IN" sz="2000" dirty="0"/>
                        <a:t> </a:t>
                      </a:r>
                      <a:r>
                        <a:rPr lang="en-IN" sz="2000" dirty="0">
                          <a:solidFill>
                            <a:schemeClr val="bg1"/>
                          </a:solidFill>
                          <a:latin typeface="Arial" panose="020B0604020202020204" pitchFamily="34" charset="0"/>
                          <a:cs typeface="Arial" panose="020B0604020202020204" pitchFamily="34" charset="0"/>
                        </a:rPr>
                        <a:t>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a:t>
                      </a:r>
                      <a:endParaRPr lang="en-IN" sz="2000" dirty="0">
                        <a:solidFill>
                          <a:schemeClr val="bg1"/>
                        </a:solidFill>
                        <a:effectLst/>
                        <a:latin typeface="Arial" panose="020B0604020202020204" pitchFamily="34" charset="0"/>
                        <a:cs typeface="Arial" panose="020B0604020202020204" pitchFamily="34" charset="0"/>
                      </a:endParaRPr>
                    </a:p>
                  </a:txBody>
                  <a:tcPr marR="121920">
                    <a:lnL w="12700" cap="flat" cmpd="sng" algn="ctr">
                      <a:solidFill>
                        <a:srgbClr val="E0E31B"/>
                      </a:solidFill>
                      <a:prstDash val="solid"/>
                      <a:round/>
                      <a:headEnd type="none" w="med" len="med"/>
                      <a:tailEnd type="none" w="med" len="med"/>
                    </a:lnL>
                    <a:lnR w="12700" cap="flat" cmpd="sng" algn="ctr">
                      <a:solidFill>
                        <a:srgbClr val="E0E31B"/>
                      </a:solidFill>
                      <a:prstDash val="solid"/>
                      <a:round/>
                      <a:headEnd type="none" w="med" len="med"/>
                      <a:tailEnd type="none" w="med" len="med"/>
                    </a:lnR>
                    <a:lnT w="12700" cap="flat" cmpd="sng" algn="ctr">
                      <a:solidFill>
                        <a:srgbClr val="E0E31B"/>
                      </a:solidFill>
                      <a:prstDash val="solid"/>
                      <a:round/>
                      <a:headEnd type="none" w="med" len="med"/>
                      <a:tailEnd type="none" w="med" len="med"/>
                    </a:lnT>
                    <a:lnB w="3810" cap="flat" cmpd="sng" algn="ctr">
                      <a:solidFill>
                        <a:srgbClr val="E0E31B"/>
                      </a:solidFill>
                      <a:prstDash val="solid"/>
                      <a:round/>
                      <a:headEnd type="none" w="med" len="med"/>
                      <a:tailEnd type="none" w="med" len="med"/>
                    </a:lnB>
                    <a:noFill/>
                  </a:tcPr>
                </a:tc>
                <a:extLst>
                  <a:ext uri="{0D108BD9-81ED-4DB2-BD59-A6C34878D82A}">
                    <a16:rowId xmlns:a16="http://schemas.microsoft.com/office/drawing/2014/main" val="268477853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61B5BCD3-9529-0A0F-ABCB-F8B5B568F254}"/>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F17117F8-08A0-8D0A-2FFF-33125A3B4EEE}"/>
              </a:ext>
            </a:extLst>
          </p:cNvPr>
          <p:cNvSpPr txBox="1"/>
          <p:nvPr/>
        </p:nvSpPr>
        <p:spPr>
          <a:xfrm>
            <a:off x="777239" y="484632"/>
            <a:ext cx="10833447" cy="523180"/>
          </a:xfrm>
          <a:prstGeom prst="rect">
            <a:avLst/>
          </a:prstGeom>
          <a:noFill/>
          <a:ln>
            <a:noFill/>
          </a:ln>
        </p:spPr>
        <p:txBody>
          <a:bodyPr spcFirstLastPara="1" wrap="square" lIns="91425" tIns="45700" rIns="91425" bIns="45700" anchor="t" anchorCtr="0">
            <a:spAutoFit/>
          </a:bodyPr>
          <a:lstStyle/>
          <a:p>
            <a:pPr lvl="0"/>
            <a:r>
              <a:rPr lang="en-US" sz="2800" b="1" dirty="0">
                <a:solidFill>
                  <a:schemeClr val="bg1"/>
                </a:solidFill>
                <a:latin typeface="Arial" panose="020B0604020202020204" pitchFamily="34" charset="0"/>
                <a:cs typeface="Arial" panose="020B0604020202020204" pitchFamily="34" charset="0"/>
              </a:rPr>
              <a:t>IBM Services and Development Tools — Working &amp; Role</a:t>
            </a:r>
            <a:endParaRPr lang="en-US" sz="2800" b="1"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42BADC88-CF45-B98E-F87E-CA524D36A5D3}"/>
              </a:ext>
            </a:extLst>
          </p:cNvPr>
          <p:cNvSpPr txBox="1"/>
          <p:nvPr/>
        </p:nvSpPr>
        <p:spPr>
          <a:xfrm>
            <a:off x="344130" y="1108242"/>
            <a:ext cx="6125497" cy="563231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1. watsonx.ai (Foundation Models)</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IBM watsonx.ai Python SDK (</a:t>
            </a:r>
            <a:r>
              <a:rPr lang="en-IN" sz="2000" dirty="0" err="1">
                <a:solidFill>
                  <a:schemeClr val="bg1"/>
                </a:solidFill>
                <a:latin typeface="Arial" panose="020B0604020202020204" pitchFamily="34" charset="0"/>
                <a:cs typeface="Arial" panose="020B0604020202020204" pitchFamily="34" charset="0"/>
              </a:rPr>
              <a:t>ibm</a:t>
            </a:r>
            <a:r>
              <a:rPr lang="en-IN" sz="2000" dirty="0">
                <a:solidFill>
                  <a:schemeClr val="bg1"/>
                </a:solidFill>
                <a:latin typeface="Arial" panose="020B0604020202020204" pitchFamily="34" charset="0"/>
                <a:cs typeface="Arial" panose="020B0604020202020204" pitchFamily="34" charset="0"/>
              </a:rPr>
              <a:t>-</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-ai)</a:t>
            </a:r>
          </a:p>
          <a:p>
            <a:pPr algn="just"/>
            <a:r>
              <a:rPr lang="en-IN" sz="2000" dirty="0">
                <a:solidFill>
                  <a:schemeClr val="bg1"/>
                </a:solidFill>
                <a:latin typeface="Arial" panose="020B0604020202020204" pitchFamily="34" charset="0"/>
                <a:cs typeface="Arial" panose="020B0604020202020204" pitchFamily="34" charset="0"/>
              </a:rPr>
              <a:t>Uses </a:t>
            </a:r>
            <a:r>
              <a:rPr lang="en-IN" sz="2000" dirty="0" err="1">
                <a:solidFill>
                  <a:schemeClr val="bg1"/>
                </a:solidFill>
                <a:latin typeface="Arial" panose="020B0604020202020204" pitchFamily="34" charset="0"/>
                <a:cs typeface="Arial" panose="020B0604020202020204" pitchFamily="34" charset="0"/>
              </a:rPr>
              <a:t>mistralai</a:t>
            </a:r>
            <a:r>
              <a:rPr lang="en-IN" sz="2000" dirty="0">
                <a:solidFill>
                  <a:schemeClr val="bg1"/>
                </a:solidFill>
                <a:latin typeface="Arial" panose="020B0604020202020204" pitchFamily="34" charset="0"/>
                <a:cs typeface="Arial" panose="020B0604020202020204" pitchFamily="34" charset="0"/>
              </a:rPr>
              <a:t>/mistral-small-3-1-24b-instruct-2503 model</a:t>
            </a:r>
          </a:p>
          <a:p>
            <a:pPr algn="just"/>
            <a:r>
              <a:rPr lang="en-IN" sz="2000" dirty="0">
                <a:solidFill>
                  <a:schemeClr val="bg1"/>
                </a:solidFill>
                <a:latin typeface="Arial" panose="020B0604020202020204" pitchFamily="34" charset="0"/>
                <a:cs typeface="Arial" panose="020B0604020202020204" pitchFamily="34" charset="0"/>
              </a:rPr>
              <a:t>Called via .chat() method with system + user messages</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Generates all AI responses in chat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Creates step-by-step form fill guides</a:t>
            </a:r>
          </a:p>
          <a:p>
            <a:pPr marL="342900" indent="-342900" algn="just">
              <a:buFont typeface="Arial" panose="020B0604020202020204" pitchFamily="34" charset="0"/>
              <a:buChar char="•"/>
            </a:pPr>
            <a:r>
              <a:rPr lang="en-IN" sz="2000" dirty="0" err="1">
                <a:solidFill>
                  <a:schemeClr val="bg1"/>
                </a:solidFill>
                <a:latin typeface="Arial" panose="020B0604020202020204" pitchFamily="34" charset="0"/>
                <a:cs typeface="Arial" panose="020B0604020202020204" pitchFamily="34" charset="0"/>
              </a:rPr>
              <a:t>Analyzes</a:t>
            </a:r>
            <a:r>
              <a:rPr lang="en-IN" sz="2000" dirty="0">
                <a:solidFill>
                  <a:schemeClr val="bg1"/>
                </a:solidFill>
                <a:latin typeface="Arial" panose="020B0604020202020204" pitchFamily="34" charset="0"/>
                <a:cs typeface="Arial" panose="020B0604020202020204" pitchFamily="34" charset="0"/>
              </a:rPr>
              <a:t> uploaded PDF documents and extracts tax info</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Generates Filing Readiness score + action plan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Performs Document Completeness audit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Responds in Hindi or English based on language toggle</a:t>
            </a:r>
          </a:p>
          <a:p>
            <a:pPr algn="just"/>
            <a:endParaRPr lang="en-IN" sz="20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A065E9B-262C-87CA-ED88-A1B90FE01D8F}"/>
              </a:ext>
            </a:extLst>
          </p:cNvPr>
          <p:cNvSpPr txBox="1"/>
          <p:nvPr/>
        </p:nvSpPr>
        <p:spPr>
          <a:xfrm>
            <a:off x="6651720" y="1108242"/>
            <a:ext cx="4717879" cy="5016758"/>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2. Watson Machine Learning</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WML instance is associated with the watsonx.ai project</a:t>
            </a:r>
          </a:p>
          <a:p>
            <a:pPr algn="just"/>
            <a:r>
              <a:rPr lang="en-IN" sz="2000" dirty="0">
                <a:solidFill>
                  <a:schemeClr val="bg1"/>
                </a:solidFill>
                <a:latin typeface="Arial" panose="020B0604020202020204" pitchFamily="34" charset="0"/>
                <a:cs typeface="Arial" panose="020B0604020202020204" pitchFamily="34" charset="0"/>
              </a:rPr>
              <a:t>Provides the inference endpoint (us-south.ml.cloud.ibm.com)</a:t>
            </a:r>
          </a:p>
          <a:p>
            <a:pPr algn="just"/>
            <a:r>
              <a:rPr lang="en-IN" sz="2000" dirty="0">
                <a:solidFill>
                  <a:schemeClr val="bg1"/>
                </a:solidFill>
                <a:latin typeface="Arial" panose="020B0604020202020204" pitchFamily="34" charset="0"/>
                <a:cs typeface="Arial" panose="020B0604020202020204" pitchFamily="34" charset="0"/>
              </a:rPr>
              <a:t>All foundation model API calls route through WML</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Serves as the compute layer that hosts and runs the foundation model</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Authenticates API requests using IAM</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Without WML, watsonx.ai cannot serve model responses</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4670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CA86D087-6DEE-CC2F-1073-D2981E7BB3CB}"/>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80502629-798F-C85F-FD4E-C015472D1D25}"/>
              </a:ext>
            </a:extLst>
          </p:cNvPr>
          <p:cNvSpPr txBox="1"/>
          <p:nvPr/>
        </p:nvSpPr>
        <p:spPr>
          <a:xfrm>
            <a:off x="777239" y="484632"/>
            <a:ext cx="10470863" cy="523180"/>
          </a:xfrm>
          <a:prstGeom prst="rect">
            <a:avLst/>
          </a:prstGeom>
          <a:noFill/>
          <a:ln>
            <a:noFill/>
          </a:ln>
        </p:spPr>
        <p:txBody>
          <a:bodyPr spcFirstLastPara="1" wrap="square" lIns="91425" tIns="45700" rIns="91425" bIns="45700" anchor="t" anchorCtr="0">
            <a:spAutoFit/>
          </a:bodyPr>
          <a:lstStyle/>
          <a:p>
            <a:pPr lvl="0"/>
            <a:r>
              <a:rPr lang="en-IN" sz="2800" b="1" dirty="0">
                <a:solidFill>
                  <a:schemeClr val="bg1"/>
                </a:solidFill>
                <a:latin typeface="Arial" panose="020B0604020202020204" pitchFamily="34" charset="0"/>
                <a:cs typeface="Arial" panose="020B0604020202020204" pitchFamily="34" charset="0"/>
              </a:rPr>
              <a:t>IBM Services and Development Tools — Working &amp; Role</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8967A368-2F68-EB3C-4524-EDCAABBEACA3}"/>
              </a:ext>
            </a:extLst>
          </p:cNvPr>
          <p:cNvSpPr txBox="1"/>
          <p:nvPr/>
        </p:nvSpPr>
        <p:spPr>
          <a:xfrm>
            <a:off x="334297" y="1295055"/>
            <a:ext cx="5938683" cy="5324535"/>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3. Watson Natural Language Understanding (NLU)</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a:t>
            </a:r>
            <a:r>
              <a:rPr lang="en-IN" sz="2000" dirty="0" err="1">
                <a:solidFill>
                  <a:schemeClr val="bg1"/>
                </a:solidFill>
                <a:latin typeface="Arial" panose="020B0604020202020204" pitchFamily="34" charset="0"/>
                <a:cs typeface="Arial" panose="020B0604020202020204" pitchFamily="34" charset="0"/>
              </a:rPr>
              <a:t>ibm-watson</a:t>
            </a:r>
            <a:r>
              <a:rPr lang="en-IN" sz="2000" dirty="0">
                <a:solidFill>
                  <a:schemeClr val="bg1"/>
                </a:solidFill>
                <a:latin typeface="Arial" panose="020B0604020202020204" pitchFamily="34" charset="0"/>
                <a:cs typeface="Arial" panose="020B0604020202020204" pitchFamily="34" charset="0"/>
              </a:rPr>
              <a:t> Python SDK</a:t>
            </a:r>
          </a:p>
          <a:p>
            <a:pPr algn="just"/>
            <a:r>
              <a:rPr lang="en-IN" sz="2000" dirty="0">
                <a:solidFill>
                  <a:schemeClr val="bg1"/>
                </a:solidFill>
                <a:latin typeface="Arial" panose="020B0604020202020204" pitchFamily="34" charset="0"/>
                <a:cs typeface="Arial" panose="020B0604020202020204" pitchFamily="34" charset="0"/>
              </a:rPr>
              <a:t>Called on every user question before RAG search</a:t>
            </a:r>
          </a:p>
          <a:p>
            <a:pPr algn="just"/>
            <a:r>
              <a:rPr lang="en-IN" sz="2000" dirty="0">
                <a:solidFill>
                  <a:schemeClr val="bg1"/>
                </a:solidFill>
                <a:latin typeface="Arial" panose="020B0604020202020204" pitchFamily="34" charset="0"/>
                <a:cs typeface="Arial" panose="020B0604020202020204" pitchFamily="34" charset="0"/>
              </a:rPr>
              <a:t>Uses </a:t>
            </a:r>
            <a:r>
              <a:rPr lang="en-IN" sz="2000" dirty="0" err="1">
                <a:solidFill>
                  <a:schemeClr val="bg1"/>
                </a:solidFill>
                <a:latin typeface="Arial" panose="020B0604020202020204" pitchFamily="34" charset="0"/>
                <a:cs typeface="Arial" panose="020B0604020202020204" pitchFamily="34" charset="0"/>
              </a:rPr>
              <a:t>KeywordsOptions</a:t>
            </a:r>
            <a:r>
              <a:rPr lang="en-IN" sz="2000" dirty="0">
                <a:solidFill>
                  <a:schemeClr val="bg1"/>
                </a:solidFill>
                <a:latin typeface="Arial" panose="020B0604020202020204" pitchFamily="34" charset="0"/>
                <a:cs typeface="Arial" panose="020B0604020202020204" pitchFamily="34" charset="0"/>
              </a:rPr>
              <a:t>(limit=5) to extract top 5 keywords</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Extracts semantic keywords from user questions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Keywords are appended to the search query to improve RAG retrieval accuracy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Example: "Can I save tax on home loan?" → NLU extracts ["home loan", "tax", "deduction"] → Better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search results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Extracted keywords are shown in the chat UI as "NLU detected"</a:t>
            </a:r>
          </a:p>
        </p:txBody>
      </p:sp>
      <p:sp>
        <p:nvSpPr>
          <p:cNvPr id="4" name="TextBox 3">
            <a:extLst>
              <a:ext uri="{FF2B5EF4-FFF2-40B4-BE49-F238E27FC236}">
                <a16:creationId xmlns:a16="http://schemas.microsoft.com/office/drawing/2014/main" id="{E5CE09A5-568F-3C32-7C92-FBAA90522C2C}"/>
              </a:ext>
            </a:extLst>
          </p:cNvPr>
          <p:cNvSpPr txBox="1"/>
          <p:nvPr/>
        </p:nvSpPr>
        <p:spPr>
          <a:xfrm>
            <a:off x="6530223" y="1295055"/>
            <a:ext cx="4717879" cy="470898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4. Watson Assistant</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Created as a Lite instance on IBM Cloud</a:t>
            </a:r>
          </a:p>
          <a:p>
            <a:pPr algn="just"/>
            <a:r>
              <a:rPr lang="en-IN" sz="2000" dirty="0">
                <a:solidFill>
                  <a:schemeClr val="bg1"/>
                </a:solidFill>
                <a:latin typeface="Arial" panose="020B0604020202020204" pitchFamily="34" charset="0"/>
                <a:cs typeface="Arial" panose="020B0604020202020204" pitchFamily="34" charset="0"/>
              </a:rPr>
              <a:t>Configured as a Web channel assistant</a:t>
            </a:r>
          </a:p>
          <a:p>
            <a:pPr algn="just"/>
            <a:r>
              <a:rPr lang="en-IN" sz="2000" dirty="0">
                <a:solidFill>
                  <a:schemeClr val="bg1"/>
                </a:solidFill>
                <a:latin typeface="Arial" panose="020B0604020202020204" pitchFamily="34" charset="0"/>
                <a:cs typeface="Arial" panose="020B0604020202020204" pitchFamily="34" charset="0"/>
              </a:rPr>
              <a:t>Active as a registered IBM service in the project</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Registered conversational AI service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Represents the enterprise chatbot layer of the architecture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Listed as active IBM service in the UI sidebar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Future integration: embed as chat widget on deployed version</a:t>
            </a:r>
          </a:p>
        </p:txBody>
      </p:sp>
    </p:spTree>
    <p:extLst>
      <p:ext uri="{BB962C8B-B14F-4D97-AF65-F5344CB8AC3E}">
        <p14:creationId xmlns:p14="http://schemas.microsoft.com/office/powerpoint/2010/main" val="421015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AB0A351B-130D-65EF-0BBD-58389A218004}"/>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384B662E-41FB-B436-01DF-D1BA7932A027}"/>
              </a:ext>
            </a:extLst>
          </p:cNvPr>
          <p:cNvSpPr txBox="1"/>
          <p:nvPr/>
        </p:nvSpPr>
        <p:spPr>
          <a:xfrm>
            <a:off x="777239" y="484632"/>
            <a:ext cx="10765831" cy="523180"/>
          </a:xfrm>
          <a:prstGeom prst="rect">
            <a:avLst/>
          </a:prstGeom>
          <a:noFill/>
          <a:ln>
            <a:noFill/>
          </a:ln>
        </p:spPr>
        <p:txBody>
          <a:bodyPr spcFirstLastPara="1" wrap="square" lIns="91425" tIns="45700" rIns="91425" bIns="45700" anchor="t" anchorCtr="0">
            <a:spAutoFit/>
          </a:bodyPr>
          <a:lstStyle/>
          <a:p>
            <a:pPr lvl="0"/>
            <a:r>
              <a:rPr lang="en-US" sz="2800" b="1" dirty="0">
                <a:solidFill>
                  <a:schemeClr val="bg1"/>
                </a:solidFill>
                <a:latin typeface="Arial" panose="020B0604020202020204" pitchFamily="34" charset="0"/>
                <a:cs typeface="Arial" panose="020B0604020202020204" pitchFamily="34" charset="0"/>
              </a:rPr>
              <a:t>IBM Services and Development Tools — Working &amp; Role</a:t>
            </a:r>
            <a:endParaRPr lang="en-US" sz="2800" b="1"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35833354-E2BE-5AC4-E840-1C076C121019}"/>
              </a:ext>
            </a:extLst>
          </p:cNvPr>
          <p:cNvSpPr txBox="1"/>
          <p:nvPr/>
        </p:nvSpPr>
        <p:spPr>
          <a:xfrm>
            <a:off x="334297" y="1295055"/>
            <a:ext cx="5968180" cy="563231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5. IBM Cloud Object Storage (COS)</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a:t>
            </a:r>
            <a:r>
              <a:rPr lang="en-IN" sz="2000" dirty="0" err="1">
                <a:solidFill>
                  <a:schemeClr val="bg1"/>
                </a:solidFill>
                <a:latin typeface="Arial" panose="020B0604020202020204" pitchFamily="34" charset="0"/>
                <a:cs typeface="Arial" panose="020B0604020202020204" pitchFamily="34" charset="0"/>
              </a:rPr>
              <a:t>ibm</a:t>
            </a:r>
            <a:r>
              <a:rPr lang="en-IN" sz="2000" dirty="0">
                <a:solidFill>
                  <a:schemeClr val="bg1"/>
                </a:solidFill>
                <a:latin typeface="Arial" panose="020B0604020202020204" pitchFamily="34" charset="0"/>
                <a:cs typeface="Arial" panose="020B0604020202020204" pitchFamily="34" charset="0"/>
              </a:rPr>
              <a:t>-cos-</a:t>
            </a:r>
            <a:r>
              <a:rPr lang="en-IN" sz="2000" dirty="0" err="1">
                <a:solidFill>
                  <a:schemeClr val="bg1"/>
                </a:solidFill>
                <a:latin typeface="Arial" panose="020B0604020202020204" pitchFamily="34" charset="0"/>
                <a:cs typeface="Arial" panose="020B0604020202020204" pitchFamily="34" charset="0"/>
              </a:rPr>
              <a:t>sdk</a:t>
            </a:r>
            <a:r>
              <a:rPr lang="en-IN" sz="2000" dirty="0">
                <a:solidFill>
                  <a:schemeClr val="bg1"/>
                </a:solidFill>
                <a:latin typeface="Arial" panose="020B0604020202020204" pitchFamily="34" charset="0"/>
                <a:cs typeface="Arial" panose="020B0604020202020204" pitchFamily="34" charset="0"/>
              </a:rPr>
              <a:t> (S3-compatible API)</a:t>
            </a:r>
          </a:p>
          <a:p>
            <a:pPr algn="just"/>
            <a:r>
              <a:rPr lang="en-IN" sz="2000" dirty="0">
                <a:solidFill>
                  <a:schemeClr val="bg1"/>
                </a:solidFill>
                <a:latin typeface="Arial" panose="020B0604020202020204" pitchFamily="34" charset="0"/>
                <a:cs typeface="Arial" panose="020B0604020202020204" pitchFamily="34" charset="0"/>
              </a:rPr>
              <a:t>Uses IAM authentication with API key + instance ID</a:t>
            </a:r>
          </a:p>
          <a:p>
            <a:pPr algn="just"/>
            <a:r>
              <a:rPr lang="en-IN" sz="2000" dirty="0">
                <a:solidFill>
                  <a:schemeClr val="bg1"/>
                </a:solidFill>
                <a:latin typeface="Arial" panose="020B0604020202020204" pitchFamily="34" charset="0"/>
                <a:cs typeface="Arial" panose="020B0604020202020204" pitchFamily="34" charset="0"/>
              </a:rPr>
              <a:t>Bucket: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-documents in us-south region</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Stores all uploaded tax documents securely in the cloud</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/upload endpoint → </a:t>
            </a:r>
            <a:r>
              <a:rPr lang="en-IN" sz="2000"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extracts text → file uploaded to COS with metadata</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/documents endpoint → lists all files from COS bucket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/documents/&lt;key&gt; DELETE → removes file from COS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When user uploads Form16.pdf → stored permanently on IBM Cloud, not locally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Enables Document Vault to persist across sessions</a:t>
            </a:r>
          </a:p>
        </p:txBody>
      </p:sp>
      <p:sp>
        <p:nvSpPr>
          <p:cNvPr id="2" name="TextBox 1">
            <a:extLst>
              <a:ext uri="{FF2B5EF4-FFF2-40B4-BE49-F238E27FC236}">
                <a16:creationId xmlns:a16="http://schemas.microsoft.com/office/drawing/2014/main" id="{DD265337-33B8-FB36-F00A-DEAA962030AE}"/>
              </a:ext>
            </a:extLst>
          </p:cNvPr>
          <p:cNvSpPr txBox="1"/>
          <p:nvPr/>
        </p:nvSpPr>
        <p:spPr>
          <a:xfrm>
            <a:off x="6410632" y="1302084"/>
            <a:ext cx="5781368" cy="4401205"/>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6. IBM </a:t>
            </a:r>
            <a:r>
              <a:rPr lang="en-IN" sz="2000" b="1" dirty="0" err="1">
                <a:solidFill>
                  <a:schemeClr val="bg1"/>
                </a:solidFill>
                <a:latin typeface="Arial" panose="020B0604020202020204" pitchFamily="34" charset="0"/>
                <a:cs typeface="Arial" panose="020B0604020202020204" pitchFamily="34" charset="0"/>
              </a:rPr>
              <a:t>watsonx</a:t>
            </a:r>
            <a:r>
              <a:rPr lang="en-IN" sz="2000" b="1" dirty="0">
                <a:solidFill>
                  <a:schemeClr val="bg1"/>
                </a:solidFill>
                <a:latin typeface="Arial" panose="020B0604020202020204" pitchFamily="34" charset="0"/>
                <a:cs typeface="Arial" panose="020B0604020202020204" pitchFamily="34" charset="0"/>
              </a:rPr>
              <a:t> Code Assistant (Bob)</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Used during development as the AI coding assistant</a:t>
            </a:r>
          </a:p>
          <a:p>
            <a:pPr algn="just"/>
            <a:r>
              <a:rPr lang="en-IN" sz="2000" dirty="0">
                <a:solidFill>
                  <a:schemeClr val="bg1"/>
                </a:solidFill>
                <a:latin typeface="Arial" panose="020B0604020202020204" pitchFamily="34" charset="0"/>
                <a:cs typeface="Arial" panose="020B0604020202020204" pitchFamily="34" charset="0"/>
              </a:rPr>
              <a:t>Provides intelligent code completions, suggestions and debugging help</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Used to write and debug Flask API endpoints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Assisted in building React components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Helped optimize the RAG pipeline code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Suggested fixes for IBM SDK integration errors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Made development faster and more efficient</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131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3E1A1A99-35E1-9235-3414-8E9734C8539A}"/>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A2271645-435A-F14F-9CD9-76E74B5F7B1C}"/>
              </a:ext>
            </a:extLst>
          </p:cNvPr>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lvl="0"/>
            <a:r>
              <a:rPr lang="en-IN" sz="2800" b="1" dirty="0">
                <a:solidFill>
                  <a:schemeClr val="bg1"/>
                </a:solidFill>
                <a:latin typeface="Arial" panose="020B0604020202020204" pitchFamily="34" charset="0"/>
                <a:cs typeface="Arial" panose="020B0604020202020204" pitchFamily="34" charset="0"/>
              </a:rPr>
              <a:t>IBM tools Overview </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graphicFrame>
        <p:nvGraphicFramePr>
          <p:cNvPr id="4" name="Table 3">
            <a:extLst>
              <a:ext uri="{FF2B5EF4-FFF2-40B4-BE49-F238E27FC236}">
                <a16:creationId xmlns:a16="http://schemas.microsoft.com/office/drawing/2014/main" id="{4FDB3C8D-741C-4B5B-714A-340F5BE24081}"/>
              </a:ext>
            </a:extLst>
          </p:cNvPr>
          <p:cNvGraphicFramePr>
            <a:graphicFrameLocks noGrp="1"/>
          </p:cNvGraphicFramePr>
          <p:nvPr>
            <p:extLst>
              <p:ext uri="{D42A27DB-BD31-4B8C-83A1-F6EECF244321}">
                <p14:modId xmlns:p14="http://schemas.microsoft.com/office/powerpoint/2010/main" val="3694201160"/>
              </p:ext>
            </p:extLst>
          </p:nvPr>
        </p:nvGraphicFramePr>
        <p:xfrm>
          <a:off x="1342974" y="1823100"/>
          <a:ext cx="8534400" cy="2773680"/>
        </p:xfrm>
        <a:graphic>
          <a:graphicData uri="http://schemas.openxmlformats.org/drawingml/2006/table">
            <a:tbl>
              <a:tblPr/>
              <a:tblGrid>
                <a:gridCol w="1341232">
                  <a:extLst>
                    <a:ext uri="{9D8B030D-6E8A-4147-A177-3AD203B41FA5}">
                      <a16:colId xmlns:a16="http://schemas.microsoft.com/office/drawing/2014/main" val="2556672595"/>
                    </a:ext>
                  </a:extLst>
                </a:gridCol>
                <a:gridCol w="4348368">
                  <a:extLst>
                    <a:ext uri="{9D8B030D-6E8A-4147-A177-3AD203B41FA5}">
                      <a16:colId xmlns:a16="http://schemas.microsoft.com/office/drawing/2014/main" val="42207465"/>
                    </a:ext>
                  </a:extLst>
                </a:gridCol>
                <a:gridCol w="2844800">
                  <a:extLst>
                    <a:ext uri="{9D8B030D-6E8A-4147-A177-3AD203B41FA5}">
                      <a16:colId xmlns:a16="http://schemas.microsoft.com/office/drawing/2014/main" val="3978412762"/>
                    </a:ext>
                  </a:extLst>
                </a:gridCol>
              </a:tblGrid>
              <a:tr h="0">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9842325"/>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watsonx.ai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LLM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3392057"/>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Model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9761620"/>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NLU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Keyword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182828"/>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Conversational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99124"/>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Cloud Object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Document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921451"/>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a:t>
                      </a:r>
                      <a:endParaRPr lang="en-IN" sz="2000" b="0"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Development 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1092777"/>
                  </a:ext>
                </a:extLst>
              </a:tr>
            </a:tbl>
          </a:graphicData>
        </a:graphic>
      </p:graphicFrame>
    </p:spTree>
    <p:extLst>
      <p:ext uri="{BB962C8B-B14F-4D97-AF65-F5344CB8AC3E}">
        <p14:creationId xmlns:p14="http://schemas.microsoft.com/office/powerpoint/2010/main" val="885224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285974"/>
            <a:ext cx="8823960" cy="4093388"/>
          </a:xfrm>
          <a:prstGeom prst="rect">
            <a:avLst/>
          </a:prstGeom>
          <a:noFill/>
          <a:ln>
            <a:noFill/>
          </a:ln>
        </p:spPr>
        <p:txBody>
          <a:bodyPr spcFirstLastPara="1" wrap="square" lIns="91425" tIns="45700" rIns="91425" bIns="45700" anchor="t" anchorCtr="0">
            <a:spAutoFit/>
          </a:bodyPr>
          <a:lstStyle/>
          <a:p>
            <a:pPr algn="just"/>
            <a:r>
              <a:rPr lang="en-IN" sz="2000" dirty="0">
                <a:solidFill>
                  <a:schemeClr val="bg1"/>
                </a:solidFill>
                <a:latin typeface="Arial" panose="020B0604020202020204" pitchFamily="34" charset="0"/>
                <a:cs typeface="Arial" panose="020B0604020202020204" pitchFamily="34" charset="0"/>
              </a:rPr>
              <a:t>Since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uses </a:t>
            </a:r>
            <a:r>
              <a:rPr lang="en-IN" sz="2000" b="1" dirty="0">
                <a:solidFill>
                  <a:schemeClr val="bg1"/>
                </a:solidFill>
                <a:latin typeface="Arial" panose="020B0604020202020204" pitchFamily="34" charset="0"/>
                <a:cs typeface="Arial" panose="020B0604020202020204" pitchFamily="34" charset="0"/>
              </a:rPr>
              <a:t>a custom RAG pipeline rather than </a:t>
            </a:r>
            <a:r>
              <a:rPr lang="en-IN" sz="2000" b="1" dirty="0" err="1">
                <a:solidFill>
                  <a:schemeClr val="bg1"/>
                </a:solidFill>
                <a:latin typeface="Arial" panose="020B0604020202020204" pitchFamily="34" charset="0"/>
                <a:cs typeface="Arial" panose="020B0604020202020204" pitchFamily="34" charset="0"/>
              </a:rPr>
              <a:t>Langflow</a:t>
            </a:r>
            <a:r>
              <a:rPr lang="en-IN" sz="2000" b="1" dirty="0">
                <a:solidFill>
                  <a:schemeClr val="bg1"/>
                </a:solidFill>
                <a:latin typeface="Arial" panose="020B0604020202020204" pitchFamily="34" charset="0"/>
                <a:cs typeface="Arial" panose="020B0604020202020204" pitchFamily="34" charset="0"/>
              </a:rPr>
              <a:t> directly</a:t>
            </a:r>
            <a:r>
              <a:rPr lang="en-IN" sz="2000" dirty="0">
                <a:solidFill>
                  <a:schemeClr val="bg1"/>
                </a:solidFill>
                <a:latin typeface="Arial" panose="020B0604020202020204" pitchFamily="34" charset="0"/>
                <a:cs typeface="Arial" panose="020B0604020202020204" pitchFamily="34" charset="0"/>
              </a:rPr>
              <a:t>, the equivalent </a:t>
            </a:r>
            <a:r>
              <a:rPr lang="en-IN" sz="2000" dirty="0" err="1">
                <a:solidFill>
                  <a:schemeClr val="bg1"/>
                </a:solidFill>
                <a:latin typeface="Arial" panose="020B0604020202020204" pitchFamily="34" charset="0"/>
                <a:cs typeface="Arial" panose="020B0604020202020204" pitchFamily="34" charset="0"/>
              </a:rPr>
              <a:t>Langflow</a:t>
            </a:r>
            <a:r>
              <a:rPr lang="en-IN" sz="2000" dirty="0">
                <a:solidFill>
                  <a:schemeClr val="bg1"/>
                </a:solidFill>
                <a:latin typeface="Arial" panose="020B0604020202020204" pitchFamily="34" charset="0"/>
                <a:cs typeface="Arial" panose="020B0604020202020204" pitchFamily="34" charset="0"/>
              </a:rPr>
              <a:t> components that </a:t>
            </a:r>
            <a:r>
              <a:rPr lang="en-IN" sz="2000" b="1" dirty="0">
                <a:solidFill>
                  <a:schemeClr val="bg1"/>
                </a:solidFill>
                <a:latin typeface="Arial" panose="020B0604020202020204" pitchFamily="34" charset="0"/>
                <a:cs typeface="Arial" panose="020B0604020202020204" pitchFamily="34" charset="0"/>
              </a:rPr>
              <a:t>map to our architecture </a:t>
            </a:r>
            <a:r>
              <a:rPr lang="en-IN" sz="2000" dirty="0">
                <a:solidFill>
                  <a:schemeClr val="bg1"/>
                </a:solidFill>
                <a:latin typeface="Arial" panose="020B0604020202020204" pitchFamily="34" charset="0"/>
                <a:cs typeface="Arial" panose="020B0604020202020204" pitchFamily="34" charset="0"/>
              </a:rPr>
              <a:t>are: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Input</a:t>
            </a:r>
            <a:r>
              <a:rPr lang="en-IN" sz="2000" dirty="0">
                <a:solidFill>
                  <a:schemeClr val="bg1"/>
                </a:solidFill>
                <a:latin typeface="Arial" panose="020B0604020202020204" pitchFamily="34" charset="0"/>
                <a:cs typeface="Arial" panose="020B0604020202020204" pitchFamily="34" charset="0"/>
              </a:rPr>
              <a:t> → User question enters the pipeline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NLU Node</a:t>
            </a:r>
            <a:r>
              <a:rPr lang="en-IN" sz="2000" dirty="0">
                <a:solidFill>
                  <a:schemeClr val="bg1"/>
                </a:solidFill>
                <a:latin typeface="Arial" panose="020B0604020202020204" pitchFamily="34" charset="0"/>
                <a:cs typeface="Arial" panose="020B0604020202020204" pitchFamily="34" charset="0"/>
              </a:rPr>
              <a:t> → Extracts keywords from the question</a:t>
            </a:r>
          </a:p>
          <a:p>
            <a:pPr marL="285750" indent="-28575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ChromaDB</a:t>
            </a:r>
            <a:r>
              <a:rPr lang="en-IN" sz="2000" b="1" dirty="0">
                <a:solidFill>
                  <a:schemeClr val="bg1"/>
                </a:solidFill>
                <a:latin typeface="Arial" panose="020B0604020202020204" pitchFamily="34" charset="0"/>
                <a:cs typeface="Arial" panose="020B0604020202020204" pitchFamily="34" charset="0"/>
              </a:rPr>
              <a:t> Retriever</a:t>
            </a:r>
            <a:r>
              <a:rPr lang="en-IN" sz="2000" dirty="0">
                <a:solidFill>
                  <a:schemeClr val="bg1"/>
                </a:solidFill>
                <a:latin typeface="Arial" panose="020B0604020202020204" pitchFamily="34" charset="0"/>
                <a:cs typeface="Arial" panose="020B0604020202020204" pitchFamily="34" charset="0"/>
              </a:rPr>
              <a:t> → Searches 15-document knowledge base using semantic similarity</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Prompt Template</a:t>
            </a:r>
            <a:r>
              <a:rPr lang="en-IN" sz="2000" dirty="0">
                <a:solidFill>
                  <a:schemeClr val="bg1"/>
                </a:solidFill>
                <a:latin typeface="Arial" panose="020B0604020202020204" pitchFamily="34" charset="0"/>
                <a:cs typeface="Arial" panose="020B0604020202020204" pitchFamily="34" charset="0"/>
              </a:rPr>
              <a:t> → Combines user question + retrieved docs + language instruction + keywords</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watsonx.ai LLM Node</a:t>
            </a:r>
            <a:r>
              <a:rPr lang="en-IN" sz="2000" dirty="0">
                <a:solidFill>
                  <a:schemeClr val="bg1"/>
                </a:solidFill>
                <a:latin typeface="Arial" panose="020B0604020202020204" pitchFamily="34" charset="0"/>
                <a:cs typeface="Arial" panose="020B0604020202020204" pitchFamily="34" charset="0"/>
              </a:rPr>
              <a:t> → Mistral model generates the final response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IBM COS Tool</a:t>
            </a:r>
            <a:r>
              <a:rPr lang="en-IN" sz="2000" dirty="0">
                <a:solidFill>
                  <a:schemeClr val="bg1"/>
                </a:solidFill>
                <a:latin typeface="Arial" panose="020B0604020202020204" pitchFamily="34" charset="0"/>
                <a:cs typeface="Arial" panose="020B0604020202020204" pitchFamily="34" charset="0"/>
              </a:rPr>
              <a:t> → Handles document upload, retrieval and deletion</a:t>
            </a:r>
          </a:p>
          <a:p>
            <a:pPr marL="285750" indent="-28575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PyMuPDF</a:t>
            </a:r>
            <a:r>
              <a:rPr lang="en-IN" sz="2000" b="1" dirty="0">
                <a:solidFill>
                  <a:schemeClr val="bg1"/>
                </a:solidFill>
                <a:latin typeface="Arial" panose="020B0604020202020204" pitchFamily="34" charset="0"/>
                <a:cs typeface="Arial" panose="020B0604020202020204" pitchFamily="34" charset="0"/>
              </a:rPr>
              <a:t> Parser</a:t>
            </a:r>
            <a:r>
              <a:rPr lang="en-IN" sz="2000" dirty="0">
                <a:solidFill>
                  <a:schemeClr val="bg1"/>
                </a:solidFill>
                <a:latin typeface="Arial" panose="020B0604020202020204" pitchFamily="34" charset="0"/>
                <a:cs typeface="Arial" panose="020B0604020202020204" pitchFamily="34" charset="0"/>
              </a:rPr>
              <a:t> → Extracts text from uploaded PDF documents</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Output</a:t>
            </a:r>
            <a:r>
              <a:rPr lang="en-IN" sz="2000" dirty="0">
                <a:solidFill>
                  <a:schemeClr val="bg1"/>
                </a:solidFill>
                <a:latin typeface="Arial" panose="020B0604020202020204" pitchFamily="34" charset="0"/>
                <a:cs typeface="Arial" panose="020B0604020202020204" pitchFamily="34" charset="0"/>
              </a:rPr>
              <a:t> → Returns answer with citations to the user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8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D3F31F1-47AC-9B9A-114D-6E3DD9D0C34E}"/>
              </a:ext>
            </a:extLst>
          </p:cNvPr>
          <p:cNvPicPr>
            <a:picLocks noChangeAspect="1"/>
          </p:cNvPicPr>
          <p:nvPr/>
        </p:nvPicPr>
        <p:blipFill>
          <a:blip r:embed="rId3"/>
          <a:stretch>
            <a:fillRect/>
          </a:stretch>
        </p:blipFill>
        <p:spPr>
          <a:xfrm>
            <a:off x="160521" y="771748"/>
            <a:ext cx="11842171" cy="57630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12DB6223-1ECE-238B-898E-B1371463AF1E}"/>
            </a:ext>
          </a:extLst>
        </p:cNvPr>
        <p:cNvGrpSpPr/>
        <p:nvPr/>
      </p:nvGrpSpPr>
      <p:grpSpPr>
        <a:xfrm>
          <a:off x="0" y="0"/>
          <a:ext cx="0" cy="0"/>
          <a:chOff x="0" y="0"/>
          <a:chExt cx="0" cy="0"/>
        </a:xfrm>
      </p:grpSpPr>
      <p:sp>
        <p:nvSpPr>
          <p:cNvPr id="125" name="Google Shape;125;p38">
            <a:extLst>
              <a:ext uri="{FF2B5EF4-FFF2-40B4-BE49-F238E27FC236}">
                <a16:creationId xmlns:a16="http://schemas.microsoft.com/office/drawing/2014/main" id="{F6C15C44-831E-E8EE-8808-C1E57AAD8BE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800" b="1" i="0" u="none" strike="noStrike" cap="none"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E37FCFAA-28BD-A3F9-7672-B8CCA943B8E0}"/>
              </a:ext>
            </a:extLst>
          </p:cNvPr>
          <p:cNvSpPr txBox="1"/>
          <p:nvPr/>
        </p:nvSpPr>
        <p:spPr>
          <a:xfrm>
            <a:off x="373626" y="910611"/>
            <a:ext cx="11680722" cy="5016758"/>
          </a:xfrm>
          <a:prstGeom prst="rect">
            <a:avLst/>
          </a:prstGeom>
          <a:noFill/>
        </p:spPr>
        <p:txBody>
          <a:bodyPr wrap="square">
            <a:spAutoFit/>
          </a:bodyPr>
          <a:lstStyle/>
          <a:p>
            <a:pPr algn="just"/>
            <a:r>
              <a:rPr lang="en-IN" sz="2000" b="1" dirty="0">
                <a:solidFill>
                  <a:schemeClr val="bg1"/>
                </a:solidFill>
                <a:latin typeface="Arial" panose="020B0604020202020204" pitchFamily="34" charset="0"/>
                <a:cs typeface="Arial" panose="020B0604020202020204" pitchFamily="34" charset="0"/>
              </a:rPr>
              <a:t>Workflow Description</a:t>
            </a:r>
          </a:p>
          <a:p>
            <a:pPr algn="just"/>
            <a:r>
              <a:rPr lang="en-IN" sz="2000" dirty="0">
                <a:solidFill>
                  <a:schemeClr val="bg1"/>
                </a:solidFill>
                <a:latin typeface="Arial" panose="020B0604020202020204" pitchFamily="34" charset="0"/>
                <a:cs typeface="Arial" panose="020B0604020202020204" pitchFamily="34" charset="0"/>
              </a:rPr>
              <a:t>The </a:t>
            </a:r>
            <a:r>
              <a:rPr lang="en-IN" sz="2000" dirty="0" err="1">
                <a:solidFill>
                  <a:schemeClr val="bg1"/>
                </a:solidFill>
                <a:latin typeface="Arial" panose="020B0604020202020204" pitchFamily="34" charset="0"/>
                <a:cs typeface="Arial" panose="020B0604020202020204" pitchFamily="34" charset="0"/>
              </a:rPr>
              <a:t>Langflow</a:t>
            </a:r>
            <a:r>
              <a:rPr lang="en-IN" sz="2000" dirty="0">
                <a:solidFill>
                  <a:schemeClr val="bg1"/>
                </a:solidFill>
                <a:latin typeface="Arial" panose="020B0604020202020204" pitchFamily="34" charset="0"/>
                <a:cs typeface="Arial" panose="020B0604020202020204" pitchFamily="34" charset="0"/>
              </a:rPr>
              <a:t> architecture demonstrates the complete </a:t>
            </a:r>
            <a:r>
              <a:rPr lang="en-IN" sz="2000" b="1" dirty="0">
                <a:solidFill>
                  <a:schemeClr val="bg1"/>
                </a:solidFill>
                <a:latin typeface="Arial" panose="020B0604020202020204" pitchFamily="34" charset="0"/>
                <a:cs typeface="Arial" panose="020B0604020202020204" pitchFamily="34" charset="0"/>
              </a:rPr>
              <a:t>Retrieval-Augmented Generation (RAG)</a:t>
            </a:r>
            <a:r>
              <a:rPr lang="en-IN" sz="2000" dirty="0">
                <a:solidFill>
                  <a:schemeClr val="bg1"/>
                </a:solidFill>
                <a:latin typeface="Arial" panose="020B0604020202020204" pitchFamily="34" charset="0"/>
                <a:cs typeface="Arial" panose="020B0604020202020204" pitchFamily="34" charset="0"/>
              </a:rPr>
              <a:t> pipeline used in </a:t>
            </a:r>
            <a:r>
              <a:rPr lang="en-IN" sz="2000" b="1" dirty="0" err="1">
                <a:solidFill>
                  <a:schemeClr val="bg1"/>
                </a:solidFill>
                <a:latin typeface="Arial" panose="020B0604020202020204" pitchFamily="34" charset="0"/>
                <a:cs typeface="Arial" panose="020B0604020202020204" pitchFamily="34" charset="0"/>
              </a:rPr>
              <a:t>TaxSmart</a:t>
            </a:r>
            <a:r>
              <a:rPr lang="en-IN" sz="2000" b="1" dirty="0">
                <a:solidFill>
                  <a:schemeClr val="bg1"/>
                </a:solidFill>
                <a:latin typeface="Arial" panose="020B0604020202020204" pitchFamily="34" charset="0"/>
                <a:cs typeface="Arial" panose="020B0604020202020204" pitchFamily="34" charset="0"/>
              </a:rPr>
              <a:t> AI</a:t>
            </a:r>
            <a:r>
              <a:rPr lang="en-IN" sz="2000" dirty="0">
                <a:solidFill>
                  <a:schemeClr val="bg1"/>
                </a:solidFill>
                <a:latin typeface="Arial" panose="020B0604020202020204" pitchFamily="34" charset="0"/>
                <a:cs typeface="Arial" panose="020B0604020202020204" pitchFamily="34" charset="0"/>
              </a:rPr>
              <a:t> for delivering accurate and trustworthy financial guidance.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Input</a:t>
            </a:r>
            <a:r>
              <a:rPr lang="en-IN" sz="2000" dirty="0">
                <a:solidFill>
                  <a:schemeClr val="bg1"/>
                </a:solidFill>
                <a:latin typeface="Arial" panose="020B0604020202020204" pitchFamily="34" charset="0"/>
                <a:cs typeface="Arial" panose="020B0604020202020204" pitchFamily="34" charset="0"/>
              </a:rPr>
              <a:t> – User submits a financial query (e.g., tax filing, UPI safety, budgeting).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NLU Agent</a:t>
            </a:r>
            <a:r>
              <a:rPr lang="en-IN" sz="2000" dirty="0">
                <a:solidFill>
                  <a:schemeClr val="bg1"/>
                </a:solidFill>
                <a:latin typeface="Arial" panose="020B0604020202020204" pitchFamily="34" charset="0"/>
                <a:cs typeface="Arial" panose="020B0604020202020204" pitchFamily="34" charset="0"/>
              </a:rPr>
              <a:t> – Extracts keywords, entities, and user intent to improve search accuracy.</a:t>
            </a:r>
          </a:p>
          <a:p>
            <a:pPr marL="342900" indent="-34290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ChromaDB</a:t>
            </a:r>
            <a:r>
              <a:rPr lang="en-IN" sz="2000" b="1" dirty="0">
                <a:solidFill>
                  <a:schemeClr val="bg1"/>
                </a:solidFill>
                <a:latin typeface="Arial" panose="020B0604020202020204" pitchFamily="34" charset="0"/>
                <a:cs typeface="Arial" panose="020B0604020202020204" pitchFamily="34" charset="0"/>
              </a:rPr>
              <a:t> Retriever</a:t>
            </a:r>
            <a:r>
              <a:rPr lang="en-IN" sz="2000" dirty="0">
                <a:solidFill>
                  <a:schemeClr val="bg1"/>
                </a:solidFill>
                <a:latin typeface="Arial" panose="020B0604020202020204" pitchFamily="34" charset="0"/>
                <a:cs typeface="Arial" panose="020B0604020202020204" pitchFamily="34" charset="0"/>
              </a:rPr>
              <a:t> – Performs semantic search on the financial knowledge base to retrieve the most relevant document chunks.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Prompt Template</a:t>
            </a:r>
            <a:r>
              <a:rPr lang="en-IN" sz="2000" dirty="0">
                <a:solidFill>
                  <a:schemeClr val="bg1"/>
                </a:solidFill>
                <a:latin typeface="Arial" panose="020B0604020202020204" pitchFamily="34" charset="0"/>
                <a:cs typeface="Arial" panose="020B0604020202020204" pitchFamily="34" charset="0"/>
              </a:rPr>
              <a:t> – Combines the user query, retrieved context, extracted keywords, and language preference into a structured prompt.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watsonx.ai LLM (Mistral)</a:t>
            </a:r>
            <a:r>
              <a:rPr lang="en-IN" sz="2000" dirty="0">
                <a:solidFill>
                  <a:schemeClr val="bg1"/>
                </a:solidFill>
                <a:latin typeface="Arial" panose="020B0604020202020204" pitchFamily="34" charset="0"/>
                <a:cs typeface="Arial" panose="020B0604020202020204" pitchFamily="34" charset="0"/>
              </a:rPr>
              <a:t> – Generates accurate, multilingual, and context-aware responses using retrieved information.</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Output</a:t>
            </a:r>
            <a:r>
              <a:rPr lang="en-IN" sz="2000" dirty="0">
                <a:solidFill>
                  <a:schemeClr val="bg1"/>
                </a:solidFill>
                <a:latin typeface="Arial" panose="020B0604020202020204" pitchFamily="34" charset="0"/>
                <a:cs typeface="Arial" panose="020B0604020202020204" pitchFamily="34" charset="0"/>
              </a:rPr>
              <a:t> – Returns the final response with reliable, source-backed financial guidance.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Document Ingestion Pipeline</a:t>
            </a:r>
          </a:p>
          <a:p>
            <a:pPr algn="just"/>
            <a:r>
              <a:rPr lang="en-IN" sz="2000" dirty="0">
                <a:solidFill>
                  <a:schemeClr val="bg1"/>
                </a:solidFill>
                <a:latin typeface="Arial" panose="020B0604020202020204" pitchFamily="34" charset="0"/>
                <a:cs typeface="Arial" panose="020B0604020202020204" pitchFamily="34" charset="0"/>
              </a:rPr>
              <a:t>Documents uploaded to </a:t>
            </a:r>
            <a:r>
              <a:rPr lang="en-IN" sz="2000" b="1" dirty="0">
                <a:solidFill>
                  <a:schemeClr val="bg1"/>
                </a:solidFill>
                <a:latin typeface="Arial" panose="020B0604020202020204" pitchFamily="34" charset="0"/>
                <a:cs typeface="Arial" panose="020B0604020202020204" pitchFamily="34" charset="0"/>
              </a:rPr>
              <a:t>IBM Cloud Object Storage (COS)</a:t>
            </a:r>
            <a:r>
              <a:rPr lang="en-IN" sz="2000" dirty="0">
                <a:solidFill>
                  <a:schemeClr val="bg1"/>
                </a:solidFill>
                <a:latin typeface="Arial" panose="020B0604020202020204" pitchFamily="34" charset="0"/>
                <a:cs typeface="Arial" panose="020B0604020202020204" pitchFamily="34" charset="0"/>
              </a:rPr>
              <a:t> are parsed using </a:t>
            </a:r>
            <a:r>
              <a:rPr lang="en-IN" sz="2000" b="1"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split into smaller chunks, converted into vector embeddings, and stored in </a:t>
            </a:r>
            <a:r>
              <a:rPr lang="en-IN" sz="2000" b="1"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These embeddings are later retrieved during user queries, ensuring responses are grounded in trusted financial resources.</a:t>
            </a:r>
          </a:p>
        </p:txBody>
      </p:sp>
    </p:spTree>
    <p:extLst>
      <p:ext uri="{BB962C8B-B14F-4D97-AF65-F5344CB8AC3E}">
        <p14:creationId xmlns:p14="http://schemas.microsoft.com/office/powerpoint/2010/main" val="2321317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Arial" panose="020B0604020202020204" pitchFamily="34" charset="0"/>
                <a:ea typeface="Calibri"/>
                <a:cs typeface="Arial" panose="020B0604020202020204" pitchFamily="34" charset="0"/>
                <a:sym typeface="Calibri"/>
              </a:rPr>
              <a:t>Architecture Blueprint</a:t>
            </a:r>
            <a:endParaRPr sz="28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pic>
        <p:nvPicPr>
          <p:cNvPr id="3" name="Picture 2">
            <a:extLst>
              <a:ext uri="{FF2B5EF4-FFF2-40B4-BE49-F238E27FC236}">
                <a16:creationId xmlns:a16="http://schemas.microsoft.com/office/drawing/2014/main" id="{3E5778F4-5550-79EB-F87A-64EFA2A3C160}"/>
              </a:ext>
            </a:extLst>
          </p:cNvPr>
          <p:cNvPicPr>
            <a:picLocks noChangeAspect="1"/>
          </p:cNvPicPr>
          <p:nvPr/>
        </p:nvPicPr>
        <p:blipFill>
          <a:blip r:embed="rId3"/>
          <a:stretch>
            <a:fillRect/>
          </a:stretch>
        </p:blipFill>
        <p:spPr>
          <a:xfrm>
            <a:off x="2499604" y="0"/>
            <a:ext cx="7893830" cy="71973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9079907" y="1010177"/>
            <a:ext cx="3015343" cy="4523014"/>
          </a:xfrm>
          <a:prstGeom prst="rect">
            <a:avLst/>
          </a:prstGeom>
          <a:noFill/>
          <a:ln>
            <a:noFill/>
          </a:ln>
        </p:spPr>
      </p:pic>
      <p:sp>
        <p:nvSpPr>
          <p:cNvPr id="138" name="Google Shape;138;p9"/>
          <p:cNvSpPr txBox="1"/>
          <p:nvPr/>
        </p:nvSpPr>
        <p:spPr>
          <a:xfrm>
            <a:off x="495153" y="135980"/>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248165" y="720755"/>
            <a:ext cx="8831742" cy="6247824"/>
          </a:xfrm>
          <a:prstGeom prst="rect">
            <a:avLst/>
          </a:prstGeom>
          <a:noFill/>
          <a:ln>
            <a:noFill/>
          </a:ln>
        </p:spPr>
        <p:txBody>
          <a:bodyPr spcFirstLastPara="1" wrap="square" lIns="91425" tIns="45700" rIns="91425" bIns="45700" anchor="t" anchorCtr="0">
            <a:spAutoFit/>
          </a:bodyPr>
          <a:lstStyle/>
          <a:p>
            <a:pPr algn="just"/>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demonstrates multiple dimensions of Agentic AI:</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Autonomous Decision Making</a:t>
            </a:r>
            <a:r>
              <a:rPr lang="en-IN" sz="2000" dirty="0">
                <a:solidFill>
                  <a:schemeClr val="bg1"/>
                </a:solidFill>
                <a:latin typeface="Arial" panose="020B0604020202020204" pitchFamily="34" charset="0"/>
                <a:cs typeface="Arial" panose="020B0604020202020204" pitchFamily="34" charset="0"/>
              </a:rPr>
              <a:t> — The agent decides which knowledge base documents are most relevant for each query without human intervention, using semantic search and NLU keyword boosting.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Multi-step Reasoning</a:t>
            </a:r>
            <a:r>
              <a:rPr lang="en-IN" sz="2000" dirty="0">
                <a:solidFill>
                  <a:schemeClr val="bg1"/>
                </a:solidFill>
                <a:latin typeface="Arial" panose="020B0604020202020204" pitchFamily="34" charset="0"/>
                <a:cs typeface="Arial" panose="020B0604020202020204" pitchFamily="34" charset="0"/>
              </a:rPr>
              <a:t> — For the Filing Readiness Meter, the agent takes user inputs across 3 steps, reasons about missing documents, calculates a readiness score, identifies the correct ITR form, and generates a personalized action plan — all autonomously.</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Tool Use</a:t>
            </a:r>
            <a:r>
              <a:rPr lang="en-IN" sz="2000" dirty="0">
                <a:solidFill>
                  <a:schemeClr val="bg1"/>
                </a:solidFill>
                <a:latin typeface="Arial" panose="020B0604020202020204" pitchFamily="34" charset="0"/>
                <a:cs typeface="Arial" panose="020B0604020202020204" pitchFamily="34" charset="0"/>
              </a:rPr>
              <a:t> — The agent uses multiple tools: Watson NLU for intent extraction,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for retrieval, IBM COS for file operations, and </a:t>
            </a:r>
            <a:r>
              <a:rPr lang="en-IN" sz="2000"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for document parsing — choosing the right tool for each task.</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Multilingual Adaptation</a:t>
            </a:r>
            <a:r>
              <a:rPr lang="en-IN" sz="2000" dirty="0">
                <a:solidFill>
                  <a:schemeClr val="bg1"/>
                </a:solidFill>
                <a:latin typeface="Arial" panose="020B0604020202020204" pitchFamily="34" charset="0"/>
                <a:cs typeface="Arial" panose="020B0604020202020204" pitchFamily="34" charset="0"/>
              </a:rPr>
              <a:t> — The agent dynamically adjusts its response language based on user preference without retraining.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Document Intelligence</a:t>
            </a:r>
            <a:r>
              <a:rPr lang="en-IN" sz="2000" dirty="0">
                <a:solidFill>
                  <a:schemeClr val="bg1"/>
                </a:solidFill>
                <a:latin typeface="Arial" panose="020B0604020202020204" pitchFamily="34" charset="0"/>
                <a:cs typeface="Arial" panose="020B0604020202020204" pitchFamily="34" charset="0"/>
              </a:rPr>
              <a:t> — When a tax document is uploaded, the agent autonomously extracts text, identifies document type, extracts key amounts and dates, checks completeness, and cross-links findings to the Doc Checker — all in one step.</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Citation-Based Transparency</a:t>
            </a:r>
            <a:r>
              <a:rPr lang="en-IN" sz="2000" dirty="0">
                <a:solidFill>
                  <a:schemeClr val="bg1"/>
                </a:solidFill>
                <a:latin typeface="Arial" panose="020B0604020202020204" pitchFamily="34" charset="0"/>
                <a:cs typeface="Arial" panose="020B0604020202020204" pitchFamily="34" charset="0"/>
              </a:rPr>
              <a:t> — The agent shows exactly which knowledge base source it used for each answer, demonstrating explainable AI </a:t>
            </a:r>
            <a:r>
              <a:rPr lang="en-IN" sz="2000" dirty="0" err="1">
                <a:solidFill>
                  <a:schemeClr val="bg1"/>
                </a:solidFill>
                <a:latin typeface="Arial" panose="020B0604020202020204" pitchFamily="34" charset="0"/>
                <a:cs typeface="Arial" panose="020B0604020202020204" pitchFamily="34" charset="0"/>
              </a:rPr>
              <a:t>behavior</a:t>
            </a:r>
            <a:r>
              <a:rPr lang="en-IN" sz="2000" dirty="0">
                <a:solidFill>
                  <a:schemeClr val="bg1"/>
                </a:solidFill>
                <a:latin typeface="Arial" panose="020B0604020202020204" pitchFamily="34" charset="0"/>
                <a:cs typeface="Arial" panose="020B0604020202020204" pitchFamily="34"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800" b="1" i="0" u="none" strike="noStrike" cap="none" dirty="0">
                <a:solidFill>
                  <a:srgbClr val="000000"/>
                </a:solidFill>
                <a:latin typeface="Arial"/>
                <a:ea typeface="Arial"/>
                <a:cs typeface="Arial"/>
                <a:sym typeface="Arial"/>
              </a:rPr>
              <a:t>Token Usage </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dirty="0">
                <a:solidFill>
                  <a:srgbClr val="000000"/>
                </a:solidFill>
                <a:latin typeface="Arial"/>
                <a:ea typeface="Arial"/>
                <a:cs typeface="Arial"/>
                <a:sym typeface="Arial"/>
              </a:rPr>
              <a:t>23,751</a:t>
            </a:r>
            <a:r>
              <a:rPr lang="en-US" sz="1400" b="0" i="0" u="none" strike="noStrike" cap="none" dirty="0">
                <a:solidFill>
                  <a:srgbClr val="000000"/>
                </a:solidFill>
                <a:latin typeface="Arial"/>
                <a:ea typeface="Arial"/>
                <a:cs typeface="Arial"/>
                <a:sym typeface="Arial"/>
              </a:rPr>
              <a:t> token are used</a:t>
            </a:r>
            <a:endParaRPr dirty="0"/>
          </a:p>
        </p:txBody>
      </p:sp>
      <p:pic>
        <p:nvPicPr>
          <p:cNvPr id="5" name="Picture 4">
            <a:extLst>
              <a:ext uri="{FF2B5EF4-FFF2-40B4-BE49-F238E27FC236}">
                <a16:creationId xmlns:a16="http://schemas.microsoft.com/office/drawing/2014/main" id="{7391A1E4-B9B8-F548-0D76-EAE5DCEC2C7B}"/>
              </a:ext>
            </a:extLst>
          </p:cNvPr>
          <p:cNvPicPr>
            <a:picLocks noChangeAspect="1"/>
          </p:cNvPicPr>
          <p:nvPr/>
        </p:nvPicPr>
        <p:blipFill>
          <a:blip r:embed="rId3"/>
          <a:stretch>
            <a:fillRect/>
          </a:stretch>
        </p:blipFill>
        <p:spPr>
          <a:xfrm>
            <a:off x="325793" y="1548022"/>
            <a:ext cx="11540414" cy="51564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287987"/>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629756" y="946297"/>
            <a:ext cx="11301984" cy="5940047"/>
          </a:xfrm>
          <a:prstGeom prst="rect">
            <a:avLst/>
          </a:prstGeom>
          <a:noFill/>
          <a:ln>
            <a:noFill/>
          </a:ln>
        </p:spPr>
        <p:txBody>
          <a:bodyPr spcFirstLastPara="1" wrap="square" lIns="91425" tIns="45700" rIns="91425" bIns="45700" anchor="t" anchorCtr="0">
            <a:spAutoFit/>
          </a:bodyPr>
          <a:lstStyle/>
          <a:p>
            <a:pPr algn="just"/>
            <a:r>
              <a:rPr lang="en-IN" sz="2000" b="1" dirty="0" err="1">
                <a:solidFill>
                  <a:schemeClr val="bg1"/>
                </a:solidFill>
                <a:latin typeface="Arial" panose="020B0604020202020204" pitchFamily="34" charset="0"/>
                <a:cs typeface="Arial" panose="020B0604020202020204" pitchFamily="34" charset="0"/>
              </a:rPr>
              <a:t>TaxSmart</a:t>
            </a:r>
            <a:r>
              <a:rPr lang="en-IN" sz="2000" b="1" dirty="0">
                <a:solidFill>
                  <a:schemeClr val="bg1"/>
                </a:solidFill>
                <a:latin typeface="Arial" panose="020B0604020202020204" pitchFamily="34" charset="0"/>
                <a:cs typeface="Arial" panose="020B0604020202020204" pitchFamily="34" charset="0"/>
              </a:rPr>
              <a:t> AI stands out from existing tools in several ways: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Citation-Based RAG — </a:t>
            </a:r>
            <a:r>
              <a:rPr lang="en-IN" sz="2000" dirty="0">
                <a:solidFill>
                  <a:schemeClr val="bg1"/>
                </a:solidFill>
                <a:latin typeface="Arial" panose="020B0604020202020204" pitchFamily="34" charset="0"/>
                <a:cs typeface="Arial" panose="020B0604020202020204" pitchFamily="34" charset="0"/>
              </a:rPr>
              <a:t>Unlike generic chatbots, every answer shows exactly which knowledge base document it came from, making the AI explainable and trustworthy</a:t>
            </a:r>
            <a:r>
              <a:rPr lang="en-IN" sz="2000" b="1" dirty="0">
                <a:solidFill>
                  <a:schemeClr val="bg1"/>
                </a:solidFill>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Cross-Feature Intelligence — </a:t>
            </a:r>
            <a:r>
              <a:rPr lang="en-IN" sz="2000" dirty="0">
                <a:solidFill>
                  <a:schemeClr val="bg1"/>
                </a:solidFill>
                <a:latin typeface="Arial" panose="020B0604020202020204" pitchFamily="34" charset="0"/>
                <a:cs typeface="Arial" panose="020B0604020202020204" pitchFamily="34" charset="0"/>
              </a:rPr>
              <a:t>Uploading a PDF in Form Vault automatically ticks the corresponding checkbox in Doc Checker. No other tax tool has this cross-feature document awareness.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Unified Platform — </a:t>
            </a:r>
            <a:r>
              <a:rPr lang="en-IN" sz="2000" dirty="0">
                <a:solidFill>
                  <a:schemeClr val="bg1"/>
                </a:solidFill>
                <a:latin typeface="Arial" panose="020B0604020202020204" pitchFamily="34" charset="0"/>
                <a:cs typeface="Arial" panose="020B0604020202020204" pitchFamily="34" charset="0"/>
              </a:rPr>
              <a:t>Combines 7 distinct features (chat, calculator, calendar, readiness meter, form vault, document scanner, completeness checker) in one IBM Cloud-powered platform — most tools offer only 1-2 of these.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Genuinely Bilingual — </a:t>
            </a:r>
            <a:r>
              <a:rPr lang="en-IN" sz="2000" dirty="0">
                <a:solidFill>
                  <a:schemeClr val="bg1"/>
                </a:solidFill>
                <a:latin typeface="Arial" panose="020B0604020202020204" pitchFamily="34" charset="0"/>
                <a:cs typeface="Arial" panose="020B0604020202020204" pitchFamily="34" charset="0"/>
              </a:rPr>
              <a:t>Not just translated UI — the IBM Granite LLM responds in Hindi when selected, including in document scans and form guides</a:t>
            </a:r>
            <a:r>
              <a:rPr lang="en-IN" sz="2000" b="1" dirty="0">
                <a:solidFill>
                  <a:schemeClr val="bg1"/>
                </a:solidFill>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5 IBM Cloud Services Actively Integrated — </a:t>
            </a:r>
            <a:r>
              <a:rPr lang="en-IN" sz="2000" dirty="0">
                <a:solidFill>
                  <a:schemeClr val="bg1"/>
                </a:solidFill>
                <a:latin typeface="Arial" panose="020B0604020202020204" pitchFamily="34" charset="0"/>
                <a:cs typeface="Arial" panose="020B0604020202020204" pitchFamily="34" charset="0"/>
              </a:rPr>
              <a:t>All 5 services are actively used in the data flow, not just listed. Each service has a specific role in the RAG pipeline or document management workflow.</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Free Tier Deployment — </a:t>
            </a:r>
            <a:r>
              <a:rPr lang="en-IN" sz="2000" dirty="0">
                <a:solidFill>
                  <a:schemeClr val="bg1"/>
                </a:solidFill>
                <a:latin typeface="Arial" panose="020B0604020202020204" pitchFamily="34" charset="0"/>
                <a:cs typeface="Arial" panose="020B0604020202020204" pitchFamily="34" charset="0"/>
              </a:rPr>
              <a:t>Entire project runs on IBM Cloud Lite (free) services, making it reproducible and accessible for other students and developers.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Built with IBM Tools End-to-End</a:t>
            </a:r>
            <a:r>
              <a:rPr lang="en-IN" sz="2000" dirty="0">
                <a:solidFill>
                  <a:schemeClr val="bg1"/>
                </a:solidFill>
                <a:latin typeface="Arial" panose="020B0604020202020204" pitchFamily="34" charset="0"/>
                <a:cs typeface="Arial" panose="020B0604020202020204" pitchFamily="34" charset="0"/>
              </a:rPr>
              <a:t> — Development itself used 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(Bob)for AI-assisted coding, making this a fully IBM-native project from development environment to deployment infrastructure.</a:t>
            </a:r>
            <a:endParaRPr lang="en-IN" sz="2000" b="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DF2BA31-B42F-FDA2-B74C-38D3CF7DC310}"/>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4D48A4F4-969E-A134-9D15-A2EB9AA41052}"/>
              </a:ext>
            </a:extLst>
          </p:cNvPr>
          <p:cNvSpPr/>
          <p:nvPr/>
        </p:nvSpPr>
        <p:spPr>
          <a:xfrm>
            <a:off x="1098278" y="412152"/>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800" b="1" i="0" u="none" strike="noStrike" cap="none" dirty="0">
              <a:solidFill>
                <a:srgbClr val="000000"/>
              </a:solidFill>
              <a:latin typeface="Arial"/>
              <a:ea typeface="Arial"/>
              <a:cs typeface="Arial"/>
              <a:sym typeface="Arial"/>
            </a:endParaRPr>
          </a:p>
        </p:txBody>
      </p:sp>
      <p:sp>
        <p:nvSpPr>
          <p:cNvPr id="166" name="Google Shape;166;p41">
            <a:extLst>
              <a:ext uri="{FF2B5EF4-FFF2-40B4-BE49-F238E27FC236}">
                <a16:creationId xmlns:a16="http://schemas.microsoft.com/office/drawing/2014/main" id="{C7D0CFD3-8F11-289F-94C9-B8425942515B}"/>
              </a:ext>
            </a:extLst>
          </p:cNvPr>
          <p:cNvSpPr/>
          <p:nvPr/>
        </p:nvSpPr>
        <p:spPr>
          <a:xfrm>
            <a:off x="1218724" y="954172"/>
            <a:ext cx="7468553" cy="5082833"/>
          </a:xfrm>
          <a:prstGeom prst="rect">
            <a:avLst/>
          </a:prstGeom>
          <a:noFill/>
          <a:ln>
            <a:noFill/>
          </a:ln>
        </p:spPr>
        <p:txBody>
          <a:bodyPr spcFirstLastPara="1" wrap="square" lIns="0" tIns="0" rIns="0" bIns="0" anchor="t" anchorCtr="0">
            <a:noAutofit/>
          </a:bodyPr>
          <a:lstStyle/>
          <a:p>
            <a:pPr marL="0" marR="0" lvl="0" indent="0"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CFE850D-5E4A-EA71-ABE8-CB1833EAB966}"/>
              </a:ext>
            </a:extLst>
          </p:cNvPr>
          <p:cNvSpPr txBox="1"/>
          <p:nvPr/>
        </p:nvSpPr>
        <p:spPr>
          <a:xfrm>
            <a:off x="1098278" y="2776677"/>
            <a:ext cx="10562780"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3"/>
              </a:rPr>
              <a:t>https://drive.google.com/drive/folders/1QMsRfcVp-iTPfoIQtXuxTb5shqu7Ao06?usp=sharing</a:t>
            </a:r>
            <a:endParaRPr lang="en-IN" sz="2000" dirty="0">
              <a:latin typeface="Arial" panose="020B0604020202020204" pitchFamily="34" charset="0"/>
              <a:cs typeface="Arial" panose="020B0604020202020204" pitchFamily="34" charset="0"/>
            </a:endParaRPr>
          </a:p>
        </p:txBody>
      </p:sp>
      <p:sp>
        <p:nvSpPr>
          <p:cNvPr id="5" name="Google Shape;163;p41">
            <a:extLst>
              <a:ext uri="{FF2B5EF4-FFF2-40B4-BE49-F238E27FC236}">
                <a16:creationId xmlns:a16="http://schemas.microsoft.com/office/drawing/2014/main" id="{542A30FE-BA85-BF92-B670-7DBAA3A900C6}"/>
              </a:ext>
            </a:extLst>
          </p:cNvPr>
          <p:cNvSpPr/>
          <p:nvPr/>
        </p:nvSpPr>
        <p:spPr>
          <a:xfrm>
            <a:off x="1157272" y="1850837"/>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Google Drive Link</a:t>
            </a:r>
            <a:endParaRPr sz="2800" b="1"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9341A38F-15CE-1AA9-A435-61D6A424ABA3}"/>
              </a:ext>
            </a:extLst>
          </p:cNvPr>
          <p:cNvSpPr txBox="1"/>
          <p:nvPr/>
        </p:nvSpPr>
        <p:spPr>
          <a:xfrm>
            <a:off x="1098278" y="1133741"/>
            <a:ext cx="6110748"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4"/>
              </a:rPr>
              <a:t>https://github.com/Kavya20060702/TaxSmart-AI.git</a:t>
            </a:r>
            <a:endParaRPr lang="en-IN" sz="2000" dirty="0">
              <a:latin typeface="Arial" panose="020B0604020202020204" pitchFamily="34" charset="0"/>
              <a:cs typeface="Arial" panose="020B0604020202020204" pitchFamily="34" charset="0"/>
            </a:endParaRPr>
          </a:p>
        </p:txBody>
      </p:sp>
      <p:sp>
        <p:nvSpPr>
          <p:cNvPr id="4" name="Google Shape;163;p41">
            <a:extLst>
              <a:ext uri="{FF2B5EF4-FFF2-40B4-BE49-F238E27FC236}">
                <a16:creationId xmlns:a16="http://schemas.microsoft.com/office/drawing/2014/main" id="{734FEB32-5284-D5D5-2870-D4375D6BA6E8}"/>
              </a:ext>
            </a:extLst>
          </p:cNvPr>
          <p:cNvSpPr/>
          <p:nvPr/>
        </p:nvSpPr>
        <p:spPr>
          <a:xfrm>
            <a:off x="1218724" y="3381334"/>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Deployment Link</a:t>
            </a:r>
            <a:endParaRPr sz="2800" b="1"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8A6086F-4CB4-2689-D831-4708769575D9}"/>
              </a:ext>
            </a:extLst>
          </p:cNvPr>
          <p:cNvSpPr txBox="1"/>
          <p:nvPr/>
        </p:nvSpPr>
        <p:spPr>
          <a:xfrm>
            <a:off x="1098278" y="4089843"/>
            <a:ext cx="6444496"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hlinkClick r:id="rId5"/>
              </a:rPr>
              <a:t>https://tax-smart-ai.vercel.app/</a:t>
            </a:r>
            <a:endParaRPr lang="en-IN"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38A0D54-EDD6-E622-8DEC-F1FBE3D29384}"/>
              </a:ext>
            </a:extLst>
          </p:cNvPr>
          <p:cNvSpPr txBox="1"/>
          <p:nvPr/>
        </p:nvSpPr>
        <p:spPr>
          <a:xfrm>
            <a:off x="1157272" y="4720443"/>
            <a:ext cx="6110748" cy="681469"/>
          </a:xfrm>
          <a:prstGeom prst="rect">
            <a:avLst/>
          </a:prstGeom>
          <a:noFill/>
        </p:spPr>
        <p:txBody>
          <a:bodyPr wrap="square">
            <a:spAutoFit/>
          </a:bodyPr>
          <a:lstStyle/>
          <a:p>
            <a:pPr lvl="0">
              <a:lnSpc>
                <a:spcPct val="157142"/>
              </a:lnSpc>
              <a:buClr>
                <a:srgbClr val="051D3A"/>
              </a:buClr>
              <a:buSzPts val="3500"/>
            </a:pPr>
            <a:r>
              <a:rPr lang="pt-BR" sz="2800" b="1" i="0" u="none" strike="noStrike" cap="none" dirty="0">
                <a:solidFill>
                  <a:srgbClr val="000000"/>
                </a:solidFill>
                <a:latin typeface="Arial"/>
                <a:ea typeface="Arial"/>
                <a:cs typeface="Arial"/>
                <a:sym typeface="Arial"/>
              </a:rPr>
              <a:t>Demo Video</a:t>
            </a:r>
          </a:p>
        </p:txBody>
      </p:sp>
      <p:sp>
        <p:nvSpPr>
          <p:cNvPr id="10" name="TextBox 9">
            <a:extLst>
              <a:ext uri="{FF2B5EF4-FFF2-40B4-BE49-F238E27FC236}">
                <a16:creationId xmlns:a16="http://schemas.microsoft.com/office/drawing/2014/main" id="{79D79C57-F79F-0A03-2D20-B81FCC2A03E1}"/>
              </a:ext>
            </a:extLst>
          </p:cNvPr>
          <p:cNvSpPr txBox="1"/>
          <p:nvPr/>
        </p:nvSpPr>
        <p:spPr>
          <a:xfrm>
            <a:off x="1098278" y="5524036"/>
            <a:ext cx="10857748"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6"/>
              </a:rPr>
              <a:t>https://drive.google.com/file/d/1JDCiTXEtTSa-cRoQ9hyDUSrvHWSWH33e/view?usp=sharing</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8703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7B1B7C9-2703-B2CA-3C2D-D743966FCB5E}"/>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EAFF9CD3-E37A-58AC-6E76-3FB17892D4E1}"/>
              </a:ext>
            </a:extLst>
          </p:cNvPr>
          <p:cNvSpPr/>
          <p:nvPr/>
        </p:nvSpPr>
        <p:spPr>
          <a:xfrm>
            <a:off x="1218724" y="147224"/>
            <a:ext cx="6444496" cy="704017"/>
          </a:xfrm>
          <a:prstGeom prst="rect">
            <a:avLst/>
          </a:prstGeom>
          <a:noFill/>
          <a:ln>
            <a:noFill/>
          </a:ln>
        </p:spPr>
        <p:txBody>
          <a:bodyPr spcFirstLastPara="1" wrap="square" lIns="0" tIns="0" rIns="0" bIns="0" anchor="t" anchorCtr="0">
            <a:noAutofit/>
          </a:bodyPr>
          <a:lstStyle/>
          <a:p>
            <a:r>
              <a:rPr lang="en-IN" sz="2800" b="1" dirty="0" err="1">
                <a:solidFill>
                  <a:schemeClr val="bg1"/>
                </a:solidFill>
                <a:latin typeface="Arial" panose="020B0604020202020204" pitchFamily="34" charset="0"/>
                <a:cs typeface="Arial" panose="020B0604020202020204" pitchFamily="34" charset="0"/>
              </a:rPr>
              <a:t>TaxSmart</a:t>
            </a:r>
            <a:r>
              <a:rPr lang="en-IN" sz="2800" b="1" dirty="0">
                <a:solidFill>
                  <a:schemeClr val="bg1"/>
                </a:solidFill>
                <a:latin typeface="Arial" panose="020B0604020202020204" pitchFamily="34" charset="0"/>
                <a:cs typeface="Arial" panose="020B0604020202020204" pitchFamily="34" charset="0"/>
              </a:rPr>
              <a:t> AI — Feature List</a:t>
            </a:r>
          </a:p>
        </p:txBody>
      </p:sp>
      <p:sp>
        <p:nvSpPr>
          <p:cNvPr id="164" name="Google Shape;164;p41">
            <a:extLst>
              <a:ext uri="{FF2B5EF4-FFF2-40B4-BE49-F238E27FC236}">
                <a16:creationId xmlns:a16="http://schemas.microsoft.com/office/drawing/2014/main" id="{2D271DCE-2908-3414-69E8-4BB394F06D99}"/>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6E7977F9-D70D-B4C2-4D08-AF0708AEB4B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A1A264C-3980-06EA-B3A5-2BBC7BDB403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A44ADF47-9DA9-04E7-1582-572E5FC76D2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F2571C8-D16B-1149-5D40-85FDB176BD62}"/>
              </a:ext>
            </a:extLst>
          </p:cNvPr>
          <p:cNvSpPr txBox="1"/>
          <p:nvPr/>
        </p:nvSpPr>
        <p:spPr>
          <a:xfrm>
            <a:off x="334297" y="770688"/>
            <a:ext cx="5230761" cy="5940088"/>
          </a:xfrm>
          <a:prstGeom prst="rect">
            <a:avLst/>
          </a:prstGeom>
          <a:noFill/>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CORE AI</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Citation-Based RAG Chat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Watson NLU Keyword Detection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Hindi / English Bilingual Responses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(EN + HI)</a:t>
            </a:r>
          </a:p>
          <a:p>
            <a:pPr algn="just"/>
            <a:r>
              <a:rPr lang="en-IN" sz="2000" b="1" dirty="0">
                <a:solidFill>
                  <a:schemeClr val="bg1"/>
                </a:solidFill>
                <a:latin typeface="Arial" panose="020B0604020202020204" pitchFamily="34" charset="0"/>
                <a:cs typeface="Arial" panose="020B0604020202020204" pitchFamily="34" charset="0"/>
              </a:rPr>
              <a:t>TOOLKIT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Tax Calculator (Old vs New Regime)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Deadline Calendar (Interactive)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Filing Readiness Meter (Score /100)</a:t>
            </a:r>
          </a:p>
          <a:p>
            <a:pPr algn="just"/>
            <a:r>
              <a:rPr lang="en-IN" sz="2000" b="1" dirty="0">
                <a:solidFill>
                  <a:schemeClr val="bg1"/>
                </a:solidFill>
                <a:latin typeface="Arial" panose="020B0604020202020204" pitchFamily="34" charset="0"/>
                <a:cs typeface="Arial" panose="020B0604020202020204" pitchFamily="34" charset="0"/>
              </a:rPr>
              <a:t>DOCUMENT INTELLIGENCE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Smart Form Vault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Tax Form Library (6 Forms)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IBM Granite AI Form Fill Guide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 Upload to IBM COS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AI Auto-Scan on Upload</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Manual Document Scanner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AI Document Completeness Checker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Auto-Link Upload → Doc Checker</a:t>
            </a:r>
          </a:p>
          <a:p>
            <a:pPr algn="just"/>
            <a:endParaRPr lang="en-IN" sz="20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C15083B-D61D-5352-7C94-95E3DB10E4C3}"/>
              </a:ext>
            </a:extLst>
          </p:cNvPr>
          <p:cNvSpPr txBox="1"/>
          <p:nvPr/>
        </p:nvSpPr>
        <p:spPr>
          <a:xfrm>
            <a:off x="6096000" y="943897"/>
            <a:ext cx="4729316" cy="1631216"/>
          </a:xfrm>
          <a:prstGeom prst="rect">
            <a:avLst/>
          </a:prstGeom>
          <a:noFill/>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ACCESSIBILITY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(Browser Speech API)</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Hindi Language Toggle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Suggested Questions</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53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7B1B7C9-2703-B2CA-3C2D-D743966FCB5E}"/>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EAFF9CD3-E37A-58AC-6E76-3FB17892D4E1}"/>
              </a:ext>
            </a:extLst>
          </p:cNvPr>
          <p:cNvSpPr/>
          <p:nvPr/>
        </p:nvSpPr>
        <p:spPr>
          <a:xfrm>
            <a:off x="1218724" y="3150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ScreenShots</a:t>
            </a:r>
            <a:endParaRPr sz="2800" b="1" i="0" u="none" strike="noStrike" cap="none" dirty="0">
              <a:solidFill>
                <a:srgbClr val="000000"/>
              </a:solidFill>
              <a:latin typeface="Arial"/>
              <a:ea typeface="Arial"/>
              <a:cs typeface="Arial"/>
              <a:sym typeface="Arial"/>
            </a:endParaRPr>
          </a:p>
        </p:txBody>
      </p:sp>
      <p:sp>
        <p:nvSpPr>
          <p:cNvPr id="164" name="Google Shape;164;p41">
            <a:extLst>
              <a:ext uri="{FF2B5EF4-FFF2-40B4-BE49-F238E27FC236}">
                <a16:creationId xmlns:a16="http://schemas.microsoft.com/office/drawing/2014/main" id="{2D271DCE-2908-3414-69E8-4BB394F06D99}"/>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6E7977F9-D70D-B4C2-4D08-AF0708AEB4B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A1A264C-3980-06EA-B3A5-2BBC7BDB403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A44ADF47-9DA9-04E7-1582-572E5FC76D2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F75AFD2-A6CB-CF6F-C636-03BEE98648B5}"/>
              </a:ext>
            </a:extLst>
          </p:cNvPr>
          <p:cNvPicPr>
            <a:picLocks noChangeAspect="1"/>
          </p:cNvPicPr>
          <p:nvPr/>
        </p:nvPicPr>
        <p:blipFill>
          <a:blip r:embed="rId3"/>
          <a:stretch>
            <a:fillRect/>
          </a:stretch>
        </p:blipFill>
        <p:spPr>
          <a:xfrm>
            <a:off x="176980" y="860508"/>
            <a:ext cx="5570523" cy="2602288"/>
          </a:xfrm>
          <a:prstGeom prst="rect">
            <a:avLst/>
          </a:prstGeom>
        </p:spPr>
      </p:pic>
      <p:pic>
        <p:nvPicPr>
          <p:cNvPr id="7" name="Picture 6">
            <a:extLst>
              <a:ext uri="{FF2B5EF4-FFF2-40B4-BE49-F238E27FC236}">
                <a16:creationId xmlns:a16="http://schemas.microsoft.com/office/drawing/2014/main" id="{218B43E6-D7EB-D0EF-AC22-F5877E459AB7}"/>
              </a:ext>
            </a:extLst>
          </p:cNvPr>
          <p:cNvPicPr>
            <a:picLocks noChangeAspect="1"/>
          </p:cNvPicPr>
          <p:nvPr/>
        </p:nvPicPr>
        <p:blipFill>
          <a:blip r:embed="rId4"/>
          <a:stretch>
            <a:fillRect/>
          </a:stretch>
        </p:blipFill>
        <p:spPr>
          <a:xfrm>
            <a:off x="5747503" y="770688"/>
            <a:ext cx="6302477" cy="3046087"/>
          </a:xfrm>
          <a:prstGeom prst="rect">
            <a:avLst/>
          </a:prstGeom>
        </p:spPr>
      </p:pic>
      <p:pic>
        <p:nvPicPr>
          <p:cNvPr id="11" name="Picture 10">
            <a:extLst>
              <a:ext uri="{FF2B5EF4-FFF2-40B4-BE49-F238E27FC236}">
                <a16:creationId xmlns:a16="http://schemas.microsoft.com/office/drawing/2014/main" id="{38E95B90-6AB6-10F9-DFB5-44C83B32B3D4}"/>
              </a:ext>
            </a:extLst>
          </p:cNvPr>
          <p:cNvPicPr>
            <a:picLocks noChangeAspect="1"/>
          </p:cNvPicPr>
          <p:nvPr/>
        </p:nvPicPr>
        <p:blipFill>
          <a:blip r:embed="rId5"/>
          <a:stretch>
            <a:fillRect/>
          </a:stretch>
        </p:blipFill>
        <p:spPr>
          <a:xfrm>
            <a:off x="41900" y="3816775"/>
            <a:ext cx="6302477" cy="3031238"/>
          </a:xfrm>
          <a:prstGeom prst="rect">
            <a:avLst/>
          </a:prstGeom>
        </p:spPr>
      </p:pic>
      <p:pic>
        <p:nvPicPr>
          <p:cNvPr id="13" name="Picture 12">
            <a:extLst>
              <a:ext uri="{FF2B5EF4-FFF2-40B4-BE49-F238E27FC236}">
                <a16:creationId xmlns:a16="http://schemas.microsoft.com/office/drawing/2014/main" id="{DC157002-4C74-8A6E-C341-6ADF582E91DF}"/>
              </a:ext>
            </a:extLst>
          </p:cNvPr>
          <p:cNvPicPr>
            <a:picLocks noChangeAspect="1"/>
          </p:cNvPicPr>
          <p:nvPr/>
        </p:nvPicPr>
        <p:blipFill>
          <a:blip r:embed="rId6"/>
          <a:stretch>
            <a:fillRect/>
          </a:stretch>
        </p:blipFill>
        <p:spPr>
          <a:xfrm>
            <a:off x="5676492" y="3743240"/>
            <a:ext cx="6444497" cy="3077314"/>
          </a:xfrm>
          <a:prstGeom prst="rect">
            <a:avLst/>
          </a:prstGeom>
        </p:spPr>
      </p:pic>
    </p:spTree>
    <p:extLst>
      <p:ext uri="{BB962C8B-B14F-4D97-AF65-F5344CB8AC3E}">
        <p14:creationId xmlns:p14="http://schemas.microsoft.com/office/powerpoint/2010/main" val="3294104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D20977B9-FC14-E32D-EFB4-4CD736A5DBDE}"/>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5DCADA0C-C404-F78E-8B6D-95722FCFAB5D}"/>
              </a:ext>
            </a:extLst>
          </p:cNvPr>
          <p:cNvSpPr/>
          <p:nvPr/>
        </p:nvSpPr>
        <p:spPr>
          <a:xfrm>
            <a:off x="1218724" y="3150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ScreenShots</a:t>
            </a:r>
            <a:endParaRPr sz="2800" b="1" i="0" u="none" strike="noStrike" cap="none" dirty="0">
              <a:solidFill>
                <a:srgbClr val="000000"/>
              </a:solidFill>
              <a:latin typeface="Arial"/>
              <a:ea typeface="Arial"/>
              <a:cs typeface="Arial"/>
              <a:sym typeface="Arial"/>
            </a:endParaRPr>
          </a:p>
        </p:txBody>
      </p:sp>
      <p:sp>
        <p:nvSpPr>
          <p:cNvPr id="164" name="Google Shape;164;p41">
            <a:extLst>
              <a:ext uri="{FF2B5EF4-FFF2-40B4-BE49-F238E27FC236}">
                <a16:creationId xmlns:a16="http://schemas.microsoft.com/office/drawing/2014/main" id="{6605F96B-7EC4-D3B4-1233-E7B69C009C7A}"/>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23339B45-6C15-21D3-7B54-52BC3EAE5CA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AE328348-B54A-FEC4-4359-ACA16700B4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9ADCAA40-BE19-24D2-32BA-6B0B6AB29F0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3F27BCF-C0A1-A28B-E697-A9B6E9B45131}"/>
              </a:ext>
            </a:extLst>
          </p:cNvPr>
          <p:cNvPicPr>
            <a:picLocks noChangeAspect="1"/>
          </p:cNvPicPr>
          <p:nvPr/>
        </p:nvPicPr>
        <p:blipFill>
          <a:blip r:embed="rId3"/>
          <a:stretch>
            <a:fillRect/>
          </a:stretch>
        </p:blipFill>
        <p:spPr>
          <a:xfrm>
            <a:off x="176980" y="860507"/>
            <a:ext cx="6499758" cy="3036383"/>
          </a:xfrm>
          <a:prstGeom prst="rect">
            <a:avLst/>
          </a:prstGeom>
        </p:spPr>
      </p:pic>
      <p:pic>
        <p:nvPicPr>
          <p:cNvPr id="3" name="Picture 2">
            <a:extLst>
              <a:ext uri="{FF2B5EF4-FFF2-40B4-BE49-F238E27FC236}">
                <a16:creationId xmlns:a16="http://schemas.microsoft.com/office/drawing/2014/main" id="{28CB333C-5250-2CD3-B0A5-547810B8E23E}"/>
              </a:ext>
            </a:extLst>
          </p:cNvPr>
          <p:cNvPicPr>
            <a:picLocks noChangeAspect="1"/>
          </p:cNvPicPr>
          <p:nvPr/>
        </p:nvPicPr>
        <p:blipFill>
          <a:blip r:embed="rId4"/>
          <a:srcRect r="-1221" b="17343"/>
          <a:stretch>
            <a:fillRect/>
          </a:stretch>
        </p:blipFill>
        <p:spPr>
          <a:xfrm>
            <a:off x="4699818" y="3707620"/>
            <a:ext cx="7315201" cy="3150380"/>
          </a:xfrm>
          <a:prstGeom prst="rect">
            <a:avLst/>
          </a:prstGeom>
        </p:spPr>
      </p:pic>
    </p:spTree>
    <p:extLst>
      <p:ext uri="{BB962C8B-B14F-4D97-AF65-F5344CB8AC3E}">
        <p14:creationId xmlns:p14="http://schemas.microsoft.com/office/powerpoint/2010/main" val="3672931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6193D7D-C31A-2A5D-41AC-D75E8C0E6626}"/>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56444AB8-E73F-F602-0431-91B520F9C185}"/>
              </a:ext>
            </a:extLst>
          </p:cNvPr>
          <p:cNvSpPr/>
          <p:nvPr/>
        </p:nvSpPr>
        <p:spPr>
          <a:xfrm>
            <a:off x="1218724" y="3150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ScreenShots</a:t>
            </a:r>
            <a:endParaRPr sz="2800" b="1" i="0" u="none" strike="noStrike" cap="none" dirty="0">
              <a:solidFill>
                <a:srgbClr val="000000"/>
              </a:solidFill>
              <a:latin typeface="Arial"/>
              <a:ea typeface="Arial"/>
              <a:cs typeface="Arial"/>
              <a:sym typeface="Arial"/>
            </a:endParaRPr>
          </a:p>
        </p:txBody>
      </p:sp>
      <p:sp>
        <p:nvSpPr>
          <p:cNvPr id="164" name="Google Shape;164;p41">
            <a:extLst>
              <a:ext uri="{FF2B5EF4-FFF2-40B4-BE49-F238E27FC236}">
                <a16:creationId xmlns:a16="http://schemas.microsoft.com/office/drawing/2014/main" id="{9034CE34-F617-A350-2DA2-A90C892DB7D4}"/>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AD975A4A-1E28-5358-CD2C-0858A6DEE0A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92B8BD3-E162-D81B-7CD8-CAD703F2592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D4D49B08-8689-619B-C76E-152A0C65BB0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054C7A8-0407-8D6F-7567-73115E7631A2}"/>
              </a:ext>
            </a:extLst>
          </p:cNvPr>
          <p:cNvPicPr>
            <a:picLocks noChangeAspect="1"/>
          </p:cNvPicPr>
          <p:nvPr/>
        </p:nvPicPr>
        <p:blipFill>
          <a:blip r:embed="rId3"/>
          <a:stretch>
            <a:fillRect/>
          </a:stretch>
        </p:blipFill>
        <p:spPr>
          <a:xfrm>
            <a:off x="127819" y="917730"/>
            <a:ext cx="6361471" cy="3037669"/>
          </a:xfrm>
          <a:prstGeom prst="rect">
            <a:avLst/>
          </a:prstGeom>
        </p:spPr>
      </p:pic>
      <p:pic>
        <p:nvPicPr>
          <p:cNvPr id="6" name="Picture 5">
            <a:extLst>
              <a:ext uri="{FF2B5EF4-FFF2-40B4-BE49-F238E27FC236}">
                <a16:creationId xmlns:a16="http://schemas.microsoft.com/office/drawing/2014/main" id="{572C8DE2-E27D-4AFB-E12A-02CD9DACBCA0}"/>
              </a:ext>
            </a:extLst>
          </p:cNvPr>
          <p:cNvPicPr>
            <a:picLocks noChangeAspect="1"/>
          </p:cNvPicPr>
          <p:nvPr/>
        </p:nvPicPr>
        <p:blipFill>
          <a:blip r:embed="rId4"/>
          <a:stretch>
            <a:fillRect/>
          </a:stretch>
        </p:blipFill>
        <p:spPr>
          <a:xfrm>
            <a:off x="5962785" y="917730"/>
            <a:ext cx="6229215" cy="2986879"/>
          </a:xfrm>
          <a:prstGeom prst="rect">
            <a:avLst/>
          </a:prstGeom>
        </p:spPr>
      </p:pic>
      <p:pic>
        <p:nvPicPr>
          <p:cNvPr id="9" name="Picture 8">
            <a:extLst>
              <a:ext uri="{FF2B5EF4-FFF2-40B4-BE49-F238E27FC236}">
                <a16:creationId xmlns:a16="http://schemas.microsoft.com/office/drawing/2014/main" id="{452FA805-AA99-E09F-A27D-FD4CE8EFDF9E}"/>
              </a:ext>
            </a:extLst>
          </p:cNvPr>
          <p:cNvPicPr>
            <a:picLocks noChangeAspect="1"/>
          </p:cNvPicPr>
          <p:nvPr/>
        </p:nvPicPr>
        <p:blipFill>
          <a:blip r:embed="rId5"/>
          <a:stretch>
            <a:fillRect/>
          </a:stretch>
        </p:blipFill>
        <p:spPr>
          <a:xfrm>
            <a:off x="127819" y="3979343"/>
            <a:ext cx="5834966" cy="2778990"/>
          </a:xfrm>
          <a:prstGeom prst="rect">
            <a:avLst/>
          </a:prstGeom>
        </p:spPr>
      </p:pic>
      <p:pic>
        <p:nvPicPr>
          <p:cNvPr id="12" name="Picture 11">
            <a:extLst>
              <a:ext uri="{FF2B5EF4-FFF2-40B4-BE49-F238E27FC236}">
                <a16:creationId xmlns:a16="http://schemas.microsoft.com/office/drawing/2014/main" id="{784BDEF5-B864-50C7-6EEA-72EEA6C8BD36}"/>
              </a:ext>
            </a:extLst>
          </p:cNvPr>
          <p:cNvPicPr>
            <a:picLocks noChangeAspect="1"/>
          </p:cNvPicPr>
          <p:nvPr/>
        </p:nvPicPr>
        <p:blipFill>
          <a:blip r:embed="rId6"/>
          <a:stretch>
            <a:fillRect/>
          </a:stretch>
        </p:blipFill>
        <p:spPr>
          <a:xfrm>
            <a:off x="6107786" y="3823613"/>
            <a:ext cx="5956395" cy="2934720"/>
          </a:xfrm>
          <a:prstGeom prst="rect">
            <a:avLst/>
          </a:prstGeom>
        </p:spPr>
      </p:pic>
    </p:spTree>
    <p:extLst>
      <p:ext uri="{BB962C8B-B14F-4D97-AF65-F5344CB8AC3E}">
        <p14:creationId xmlns:p14="http://schemas.microsoft.com/office/powerpoint/2010/main" val="376776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658761" y="1221715"/>
            <a:ext cx="10441858" cy="4277001"/>
          </a:xfrm>
          <a:prstGeom prst="rect">
            <a:avLst/>
          </a:prstGeom>
          <a:noFill/>
          <a:ln>
            <a:noFill/>
          </a:ln>
        </p:spPr>
        <p:txBody>
          <a:bodyPr spcFirstLastPara="1" wrap="square" lIns="0" tIns="0" rIns="0" bIns="0" anchor="t" anchorCtr="0">
            <a:noAutofit/>
          </a:bodyPr>
          <a:lstStyle/>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Real-time Income Tax Portal Integration</a:t>
            </a:r>
            <a:r>
              <a:rPr lang="en-IN" sz="2000" dirty="0">
                <a:solidFill>
                  <a:schemeClr val="bg1"/>
                </a:solidFill>
                <a:latin typeface="Arial" panose="020B0604020202020204" pitchFamily="34" charset="0"/>
                <a:cs typeface="Arial" panose="020B0604020202020204" pitchFamily="34" charset="0"/>
              </a:rPr>
              <a:t> — Connect directly to incometax.gov.in APIs to fetch live Form 26AS, AIS/TIS data and pre-fill the Doc Checker automatically.</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Automated ITR Pre-filling</a:t>
            </a:r>
            <a:r>
              <a:rPr lang="en-IN" sz="2000" dirty="0">
                <a:solidFill>
                  <a:schemeClr val="bg1"/>
                </a:solidFill>
                <a:latin typeface="Arial" panose="020B0604020202020204" pitchFamily="34" charset="0"/>
                <a:cs typeface="Arial" panose="020B0604020202020204" pitchFamily="34" charset="0"/>
              </a:rPr>
              <a:t> — Use uploaded Form 16 and 26AS to auto-populate ITR fields and generate a draft return for review.</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WhatsApp / SMS Bot</a:t>
            </a:r>
            <a:r>
              <a:rPr lang="en-IN" sz="2000" dirty="0">
                <a:solidFill>
                  <a:schemeClr val="bg1"/>
                </a:solidFill>
                <a:latin typeface="Arial" panose="020B0604020202020204" pitchFamily="34" charset="0"/>
                <a:cs typeface="Arial" panose="020B0604020202020204" pitchFamily="34" charset="0"/>
              </a:rPr>
              <a:t> — Deploy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on WhatsApp using Watson Assistant for rural citizens without smartphone apps.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Regional Language Expansion</a:t>
            </a:r>
            <a:r>
              <a:rPr lang="en-IN" sz="2000" dirty="0">
                <a:solidFill>
                  <a:schemeClr val="bg1"/>
                </a:solidFill>
                <a:latin typeface="Arial" panose="020B0604020202020204" pitchFamily="34" charset="0"/>
                <a:cs typeface="Arial" panose="020B0604020202020204" pitchFamily="34" charset="0"/>
              </a:rPr>
              <a:t> — Extend beyond Hindi to Tamil, Telugu, Marathi, Bengali using IBM's multilingual models — covering 95% of India's population.</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Tax Professional Marketplace</a:t>
            </a:r>
            <a:r>
              <a:rPr lang="en-IN" sz="2000" dirty="0">
                <a:solidFill>
                  <a:schemeClr val="bg1"/>
                </a:solidFill>
                <a:latin typeface="Arial" panose="020B0604020202020204" pitchFamily="34" charset="0"/>
                <a:cs typeface="Arial" panose="020B0604020202020204" pitchFamily="34" charset="0"/>
              </a:rPr>
              <a:t> — Connect users who need expert help with certified CAs directly from the platform.</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Discovery Integration</a:t>
            </a:r>
            <a:r>
              <a:rPr lang="en-IN" sz="2000" dirty="0">
                <a:solidFill>
                  <a:schemeClr val="bg1"/>
                </a:solidFill>
                <a:latin typeface="Arial" panose="020B0604020202020204" pitchFamily="34" charset="0"/>
                <a:cs typeface="Arial" panose="020B0604020202020204" pitchFamily="34" charset="0"/>
              </a:rPr>
              <a:t> — Replace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with Watson Discovery for enterprise-grade RAG with automatic document ingestion from government portals.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Predictive Tax Planning</a:t>
            </a:r>
            <a:r>
              <a:rPr lang="en-IN" sz="2000" dirty="0">
                <a:solidFill>
                  <a:schemeClr val="bg1"/>
                </a:solidFill>
                <a:latin typeface="Arial" panose="020B0604020202020204" pitchFamily="34" charset="0"/>
                <a:cs typeface="Arial" panose="020B0604020202020204" pitchFamily="34" charset="0"/>
              </a:rPr>
              <a:t> — Use historical income data to predict next year's tax liability and suggest optimal investment timing throughout the year.</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Mobile App</a:t>
            </a:r>
            <a:r>
              <a:rPr lang="en-IN" sz="2000" dirty="0">
                <a:solidFill>
                  <a:schemeClr val="bg1"/>
                </a:solidFill>
                <a:latin typeface="Arial" panose="020B0604020202020204" pitchFamily="34" charset="0"/>
                <a:cs typeface="Arial" panose="020B0604020202020204" pitchFamily="34" charset="0"/>
              </a:rPr>
              <a:t> — React Native version with offline knowledge base for users with limited internet connectivity.</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i="0" u="none" strike="noStrike" cap="none" dirty="0">
                <a:solidFill>
                  <a:srgbClr val="000000"/>
                </a:solidFill>
                <a:latin typeface="Arial"/>
                <a:ea typeface="Arial"/>
                <a:cs typeface="Arial"/>
                <a:sym typeface="Arial"/>
              </a:rPr>
              <a:t>Getting Started With Artificial Intelligence</a:t>
            </a:r>
            <a:endParaRPr sz="20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956759F9-5E27-F5A9-F0CD-5325024B7E0E}"/>
              </a:ext>
            </a:extLst>
          </p:cNvPr>
          <p:cNvPicPr>
            <a:picLocks noChangeAspect="1"/>
          </p:cNvPicPr>
          <p:nvPr/>
        </p:nvPicPr>
        <p:blipFill>
          <a:blip r:embed="rId3"/>
          <a:stretch>
            <a:fillRect/>
          </a:stretch>
        </p:blipFill>
        <p:spPr>
          <a:xfrm>
            <a:off x="1825618" y="1695962"/>
            <a:ext cx="6389965" cy="49377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3" name="Picture 2">
            <a:extLst>
              <a:ext uri="{FF2B5EF4-FFF2-40B4-BE49-F238E27FC236}">
                <a16:creationId xmlns:a16="http://schemas.microsoft.com/office/drawing/2014/main" id="{6E4EE3DE-91E8-2D75-01AD-6008800ECCA7}"/>
              </a:ext>
            </a:extLst>
          </p:cNvPr>
          <p:cNvPicPr>
            <a:picLocks noChangeAspect="1"/>
          </p:cNvPicPr>
          <p:nvPr/>
        </p:nvPicPr>
        <p:blipFill>
          <a:blip r:embed="rId3"/>
          <a:stretch>
            <a:fillRect/>
          </a:stretch>
        </p:blipFill>
        <p:spPr>
          <a:xfrm rot="5400000">
            <a:off x="3377208" y="421262"/>
            <a:ext cx="5299364"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B46ED6CB-C733-31E8-3E1C-927C173E6546}"/>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B99698B5-DD8C-409E-D3F7-D40A1ED9A775}"/>
              </a:ext>
            </a:extLst>
          </p:cNvPr>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i="0" u="none" strike="noStrike" cap="none" dirty="0">
                <a:solidFill>
                  <a:srgbClr val="000000"/>
                </a:solidFill>
                <a:latin typeface="Arial"/>
                <a:ea typeface="Arial"/>
                <a:cs typeface="Arial"/>
                <a:sym typeface="Arial"/>
              </a:rPr>
              <a:t>Level Up Cybersecurity with Generative AI</a:t>
            </a:r>
            <a:endParaRPr sz="20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C96ABF85-E861-EDBA-A405-A6FA0037655E}"/>
              </a:ext>
            </a:extLst>
          </p:cNvPr>
          <p:cNvPicPr>
            <a:picLocks noChangeAspect="1"/>
          </p:cNvPicPr>
          <p:nvPr/>
        </p:nvPicPr>
        <p:blipFill>
          <a:blip r:embed="rId3"/>
          <a:srcRect b="19283"/>
          <a:stretch>
            <a:fillRect/>
          </a:stretch>
        </p:blipFill>
        <p:spPr>
          <a:xfrm>
            <a:off x="1501154" y="1132265"/>
            <a:ext cx="8875059" cy="5535561"/>
          </a:xfrm>
          <a:prstGeom prst="rect">
            <a:avLst/>
          </a:prstGeom>
        </p:spPr>
      </p:pic>
    </p:spTree>
    <p:extLst>
      <p:ext uri="{BB962C8B-B14F-4D97-AF65-F5344CB8AC3E}">
        <p14:creationId xmlns:p14="http://schemas.microsoft.com/office/powerpoint/2010/main" val="3266751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050E7429-7F0B-FEE2-AEEA-73DFA1FA19FA}"/>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7C02AB88-B140-41F8-275B-2858793BF58F}"/>
              </a:ext>
            </a:extLst>
          </p:cNvPr>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dirty="0">
                <a:solidFill>
                  <a:srgbClr val="000000"/>
                </a:solidFill>
                <a:latin typeface="Arial"/>
                <a:ea typeface="Arial"/>
                <a:cs typeface="Arial"/>
                <a:sym typeface="Arial"/>
              </a:rPr>
              <a:t>Exploring Quantum Computing</a:t>
            </a:r>
            <a:endParaRPr sz="20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49A2505D-D90D-15FD-27A8-7851D9F006E2}"/>
              </a:ext>
            </a:extLst>
          </p:cNvPr>
          <p:cNvPicPr>
            <a:picLocks noChangeAspect="1"/>
          </p:cNvPicPr>
          <p:nvPr/>
        </p:nvPicPr>
        <p:blipFill>
          <a:blip r:embed="rId3"/>
          <a:srcRect r="2805" b="17276"/>
          <a:stretch>
            <a:fillRect/>
          </a:stretch>
        </p:blipFill>
        <p:spPr>
          <a:xfrm>
            <a:off x="1697800" y="976781"/>
            <a:ext cx="8626072" cy="5673213"/>
          </a:xfrm>
          <a:prstGeom prst="rect">
            <a:avLst/>
          </a:prstGeom>
        </p:spPr>
      </p:pic>
    </p:spTree>
    <p:extLst>
      <p:ext uri="{BB962C8B-B14F-4D97-AF65-F5344CB8AC3E}">
        <p14:creationId xmlns:p14="http://schemas.microsoft.com/office/powerpoint/2010/main" val="567505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05024A4B-EFBC-B760-2746-EFBDBC1C95DE}"/>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BB66F86A-50F6-38A9-A319-C8B967EC737F}"/>
              </a:ext>
            </a:extLst>
          </p:cNvPr>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i="0" u="none" strike="noStrike" cap="none" dirty="0">
                <a:solidFill>
                  <a:srgbClr val="000000"/>
                </a:solidFill>
                <a:latin typeface="Arial"/>
                <a:ea typeface="Arial"/>
                <a:cs typeface="Arial"/>
                <a:sym typeface="Arial"/>
              </a:rPr>
              <a:t>Journey to Cloud: Envisioning Your Solution</a:t>
            </a:r>
            <a:endParaRPr sz="20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9A5A115D-556C-28D4-025D-400D0DCA455D}"/>
              </a:ext>
            </a:extLst>
          </p:cNvPr>
          <p:cNvPicPr>
            <a:picLocks noChangeAspect="1"/>
          </p:cNvPicPr>
          <p:nvPr/>
        </p:nvPicPr>
        <p:blipFill>
          <a:blip r:embed="rId3"/>
          <a:stretch>
            <a:fillRect/>
          </a:stretch>
        </p:blipFill>
        <p:spPr>
          <a:xfrm>
            <a:off x="1927123" y="1101213"/>
            <a:ext cx="6816935" cy="5267631"/>
          </a:xfrm>
          <a:prstGeom prst="rect">
            <a:avLst/>
          </a:prstGeom>
        </p:spPr>
      </p:pic>
    </p:spTree>
    <p:extLst>
      <p:ext uri="{BB962C8B-B14F-4D97-AF65-F5344CB8AC3E}">
        <p14:creationId xmlns:p14="http://schemas.microsoft.com/office/powerpoint/2010/main" val="39040995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B81D76A5-027B-0AC7-9C76-DA6BBDE068BE}"/>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54A8A1CD-EF4A-9AE1-8A93-0A38866C6988}"/>
              </a:ext>
            </a:extLst>
          </p:cNvPr>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i="0" u="none" strike="noStrike" cap="none" dirty="0">
                <a:solidFill>
                  <a:srgbClr val="000000"/>
                </a:solidFill>
                <a:latin typeface="Arial"/>
                <a:ea typeface="Arial"/>
                <a:cs typeface="Arial"/>
                <a:sym typeface="Arial"/>
              </a:rPr>
              <a:t>Getting Started with Cybersecurity</a:t>
            </a:r>
            <a:endParaRPr sz="20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0E999F3-DB5B-5EFF-A472-8B9A593AB46B}"/>
              </a:ext>
            </a:extLst>
          </p:cNvPr>
          <p:cNvPicPr>
            <a:picLocks noChangeAspect="1"/>
          </p:cNvPicPr>
          <p:nvPr/>
        </p:nvPicPr>
        <p:blipFill>
          <a:blip r:embed="rId3"/>
          <a:stretch>
            <a:fillRect/>
          </a:stretch>
        </p:blipFill>
        <p:spPr>
          <a:xfrm>
            <a:off x="2231923" y="1238865"/>
            <a:ext cx="6885761" cy="5320815"/>
          </a:xfrm>
          <a:prstGeom prst="rect">
            <a:avLst/>
          </a:prstGeom>
        </p:spPr>
      </p:pic>
    </p:spTree>
    <p:extLst>
      <p:ext uri="{BB962C8B-B14F-4D97-AF65-F5344CB8AC3E}">
        <p14:creationId xmlns:p14="http://schemas.microsoft.com/office/powerpoint/2010/main" val="2398835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4BF3EEA4-50E6-0AC9-5737-F0F904E7FE9B}"/>
            </a:ext>
          </a:extLst>
        </p:cNvPr>
        <p:cNvGrpSpPr/>
        <p:nvPr/>
      </p:nvGrpSpPr>
      <p:grpSpPr>
        <a:xfrm>
          <a:off x="0" y="0"/>
          <a:ext cx="0" cy="0"/>
          <a:chOff x="0" y="0"/>
          <a:chExt cx="0" cy="0"/>
        </a:xfrm>
      </p:grpSpPr>
      <p:sp>
        <p:nvSpPr>
          <p:cNvPr id="182" name="Google Shape;182;p43">
            <a:extLst>
              <a:ext uri="{FF2B5EF4-FFF2-40B4-BE49-F238E27FC236}">
                <a16:creationId xmlns:a16="http://schemas.microsoft.com/office/drawing/2014/main" id="{955EB615-C900-1D3B-2E27-F95FB79ADAD1}"/>
              </a:ext>
            </a:extLst>
          </p:cNvPr>
          <p:cNvSpPr txBox="1"/>
          <p:nvPr/>
        </p:nvSpPr>
        <p:spPr>
          <a:xfrm>
            <a:off x="327948" y="207380"/>
            <a:ext cx="8747225"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dirty="0">
                <a:solidFill>
                  <a:srgbClr val="000000"/>
                </a:solidFill>
                <a:latin typeface="Arial"/>
                <a:ea typeface="Arial"/>
                <a:cs typeface="Arial"/>
                <a:sym typeface="Arial"/>
              </a:rPr>
              <a:t>	</a:t>
            </a:r>
            <a:r>
              <a:rPr lang="en-IN" sz="2000" b="1" dirty="0" err="1">
                <a:solidFill>
                  <a:srgbClr val="000000"/>
                </a:solidFill>
                <a:latin typeface="Arial"/>
                <a:ea typeface="Arial"/>
                <a:cs typeface="Arial"/>
                <a:sym typeface="Arial"/>
              </a:rPr>
              <a:t>Edunet</a:t>
            </a:r>
            <a:r>
              <a:rPr lang="en-IN" sz="2000" b="1" dirty="0">
                <a:solidFill>
                  <a:srgbClr val="000000"/>
                </a:solidFill>
                <a:latin typeface="Arial"/>
                <a:ea typeface="Arial"/>
                <a:cs typeface="Arial"/>
                <a:sym typeface="Arial"/>
              </a:rPr>
              <a:t>-University Engagements-AICTE-Internship-2026-2027</a:t>
            </a:r>
            <a:endParaRPr sz="2000" b="1"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B80F5E60-9E6D-BE2F-977C-E04F0390B9DD}"/>
              </a:ext>
            </a:extLst>
          </p:cNvPr>
          <p:cNvPicPr>
            <a:picLocks noChangeAspect="1"/>
          </p:cNvPicPr>
          <p:nvPr/>
        </p:nvPicPr>
        <p:blipFill>
          <a:blip r:embed="rId3"/>
          <a:srcRect b="19046"/>
          <a:stretch>
            <a:fillRect/>
          </a:stretch>
        </p:blipFill>
        <p:spPr>
          <a:xfrm>
            <a:off x="1294676" y="976781"/>
            <a:ext cx="8875059" cy="5551838"/>
          </a:xfrm>
          <a:prstGeom prst="rect">
            <a:avLst/>
          </a:prstGeom>
        </p:spPr>
      </p:pic>
    </p:spTree>
    <p:extLst>
      <p:ext uri="{BB962C8B-B14F-4D97-AF65-F5344CB8AC3E}">
        <p14:creationId xmlns:p14="http://schemas.microsoft.com/office/powerpoint/2010/main" val="1605298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318</TotalTime>
  <Words>2155</Words>
  <Application>Microsoft Office PowerPoint</Application>
  <PresentationFormat>Widescreen</PresentationFormat>
  <Paragraphs>259</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Century Gothic</vt:lpstr>
      <vt:lpstr>Times New Roman</vt:lpstr>
      <vt:lpstr>Wingdings 3</vt:lpstr>
      <vt:lpstr>Slice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Kavya Sai</cp:lastModifiedBy>
  <cp:revision>19</cp:revision>
  <dcterms:created xsi:type="dcterms:W3CDTF">2025-07-08T05:06:56Z</dcterms:created>
  <dcterms:modified xsi:type="dcterms:W3CDTF">2026-07-10T13:16:22Z</dcterms:modified>
</cp:coreProperties>
</file>